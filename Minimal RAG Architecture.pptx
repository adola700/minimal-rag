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Noto Sans SC" charset="-122" pitchFamily="34"/>
      <p:regular r:id="rId18"/>
    </p:embeddedFont>
    <p:embeddedFont>
      <p:font typeface="Mi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u74jlv6itcve/minimal-rag-cover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70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6B6D4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2267426"/>
            <a:ext cx="5895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spc="-180" kern="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Minimal RAG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3410426"/>
            <a:ext cx="7817721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Lightweight Retrieval-Augmented Generation Architecture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Motivation for RAG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337310"/>
            <a:ext cx="3646170" cy="3531870"/>
          </a:xfrm>
          <a:custGeom>
            <a:avLst/>
            <a:gdLst/>
            <a:ahLst/>
            <a:cxnLst/>
            <a:rect l="l" t="t" r="r" b="b"/>
            <a:pathLst>
              <a:path w="3646170" h="3531870">
                <a:moveTo>
                  <a:pt x="114291" y="0"/>
                </a:moveTo>
                <a:lnTo>
                  <a:pt x="3531879" y="0"/>
                </a:lnTo>
                <a:cubicBezTo>
                  <a:pt x="3595000" y="0"/>
                  <a:pt x="3646170" y="51170"/>
                  <a:pt x="3646170" y="114291"/>
                </a:cubicBezTo>
                <a:lnTo>
                  <a:pt x="3646170" y="3417579"/>
                </a:lnTo>
                <a:cubicBezTo>
                  <a:pt x="3646170" y="3480700"/>
                  <a:pt x="3595000" y="3531870"/>
                  <a:pt x="3531879" y="3531870"/>
                </a:cubicBezTo>
                <a:lnTo>
                  <a:pt x="114291" y="3531870"/>
                </a:lnTo>
                <a:cubicBezTo>
                  <a:pt x="51170" y="3531870"/>
                  <a:pt x="0" y="3480700"/>
                  <a:pt x="0" y="3417579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" y="15697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781526" y="17316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" y="2369820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Knowledge Cutoff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7220" y="2788801"/>
            <a:ext cx="3257550" cy="184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LLMs are trained on static datasets with a fixed knowledge cutoff date, making them unable to access recent information or evolving domain knowledge.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71010" y="1337310"/>
            <a:ext cx="3646170" cy="3531870"/>
          </a:xfrm>
          <a:custGeom>
            <a:avLst/>
            <a:gdLst/>
            <a:ahLst/>
            <a:cxnLst/>
            <a:rect l="l" t="t" r="r" b="b"/>
            <a:pathLst>
              <a:path w="3646170" h="3531870">
                <a:moveTo>
                  <a:pt x="114291" y="0"/>
                </a:moveTo>
                <a:lnTo>
                  <a:pt x="3531879" y="0"/>
                </a:lnTo>
                <a:cubicBezTo>
                  <a:pt x="3595000" y="0"/>
                  <a:pt x="3646170" y="51170"/>
                  <a:pt x="3646170" y="114291"/>
                </a:cubicBezTo>
                <a:lnTo>
                  <a:pt x="3646170" y="3417579"/>
                </a:lnTo>
                <a:cubicBezTo>
                  <a:pt x="3646170" y="3480700"/>
                  <a:pt x="3595000" y="3531870"/>
                  <a:pt x="3531879" y="3531870"/>
                </a:cubicBezTo>
                <a:lnTo>
                  <a:pt x="114291" y="3531870"/>
                </a:lnTo>
                <a:cubicBezTo>
                  <a:pt x="51170" y="3531870"/>
                  <a:pt x="0" y="3480700"/>
                  <a:pt x="0" y="3417579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3420" y="15697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30000"/>
                </a:srgbClr>
              </a:gs>
              <a:gs pos="100000">
                <a:srgbClr val="F59E0B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4667726" y="17316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503420" y="2369820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Hallucination Risk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3420" y="2788801"/>
            <a:ext cx="3257550" cy="184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Without external validation, LLMs may generate plausible but factually incorrect responses, undermining trust in critical applications.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57210" y="1337310"/>
            <a:ext cx="3646170" cy="3531870"/>
          </a:xfrm>
          <a:custGeom>
            <a:avLst/>
            <a:gdLst/>
            <a:ahLst/>
            <a:cxnLst/>
            <a:rect l="l" t="t" r="r" b="b"/>
            <a:pathLst>
              <a:path w="3646170" h="3531870">
                <a:moveTo>
                  <a:pt x="114291" y="0"/>
                </a:moveTo>
                <a:lnTo>
                  <a:pt x="3531879" y="0"/>
                </a:lnTo>
                <a:cubicBezTo>
                  <a:pt x="3595000" y="0"/>
                  <a:pt x="3646170" y="51170"/>
                  <a:pt x="3646170" y="114291"/>
                </a:cubicBezTo>
                <a:lnTo>
                  <a:pt x="3646170" y="3417579"/>
                </a:lnTo>
                <a:cubicBezTo>
                  <a:pt x="3646170" y="3480700"/>
                  <a:pt x="3595000" y="3531870"/>
                  <a:pt x="3531879" y="3531870"/>
                </a:cubicBezTo>
                <a:lnTo>
                  <a:pt x="114291" y="3531870"/>
                </a:lnTo>
                <a:cubicBezTo>
                  <a:pt x="51170" y="3531870"/>
                  <a:pt x="0" y="3480700"/>
                  <a:pt x="0" y="3417579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100000">
                <a:srgbClr val="0F172A"/>
              </a:gs>
            </a:gsLst>
            <a:lin ang="2700000" scaled="1"/>
          </a:gra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9620" y="15697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8571786" y="173164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8389620" y="2369820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Domain Knowledge Gap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9620" y="2788801"/>
            <a:ext cx="3257550" cy="184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Generic LLMs lack access to proprietary or specialized information, limiting their effectiveness in enterprise and domain-specific contexts.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810" y="5108258"/>
            <a:ext cx="11418570" cy="1369695"/>
          </a:xfrm>
          <a:custGeom>
            <a:avLst/>
            <a:gdLst/>
            <a:ahLst/>
            <a:cxnLst/>
            <a:rect l="l" t="t" r="r" b="b"/>
            <a:pathLst>
              <a:path w="11418570" h="1369695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1255394"/>
                </a:lnTo>
                <a:cubicBezTo>
                  <a:pt x="11418570" y="1318521"/>
                  <a:pt x="11367396" y="1369695"/>
                  <a:pt x="11304269" y="1369695"/>
                </a:cubicBezTo>
                <a:lnTo>
                  <a:pt x="114301" y="1369695"/>
                </a:lnTo>
                <a:cubicBezTo>
                  <a:pt x="51174" y="1369695"/>
                  <a:pt x="0" y="1318521"/>
                  <a:pt x="0" y="125539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F59E0B">
                  <a:alpha val="20000"/>
                </a:srgbClr>
              </a:gs>
            </a:gsLst>
            <a:lin ang="0" scaled="1"/>
          </a:gradFill>
          <a:ln w="1016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" y="534066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4383" y="547401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1226820" y="5340668"/>
            <a:ext cx="10439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RAG Solution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26820" y="5683568"/>
            <a:ext cx="104298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Retrieval-Augmented Generation bridges this gap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by dynamically retrieving relevant context from external knowledge sources, grounding LLM responses in factual, up-to-date information.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 Architecture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184910"/>
            <a:ext cx="11418570" cy="2407920"/>
          </a:xfrm>
          <a:custGeom>
            <a:avLst/>
            <a:gdLst/>
            <a:ahLst/>
            <a:cxnLst/>
            <a:rect l="l" t="t" r="r" b="b"/>
            <a:pathLst>
              <a:path w="11418570" h="2407920">
                <a:moveTo>
                  <a:pt x="114304" y="0"/>
                </a:moveTo>
                <a:lnTo>
                  <a:pt x="11304266" y="0"/>
                </a:lnTo>
                <a:cubicBezTo>
                  <a:pt x="11367394" y="0"/>
                  <a:pt x="11418570" y="51176"/>
                  <a:pt x="11418570" y="114304"/>
                </a:cubicBezTo>
                <a:lnTo>
                  <a:pt x="11418570" y="2293616"/>
                </a:lnTo>
                <a:cubicBezTo>
                  <a:pt x="11418570" y="2356744"/>
                  <a:pt x="11367394" y="2407920"/>
                  <a:pt x="11304266" y="2407920"/>
                </a:cubicBezTo>
                <a:lnTo>
                  <a:pt x="114304" y="2407920"/>
                </a:lnTo>
                <a:cubicBezTo>
                  <a:pt x="51176" y="2407920"/>
                  <a:pt x="0" y="2356744"/>
                  <a:pt x="0" y="22936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pic>
        <p:nvPicPr>
          <p:cNvPr id="5" name="Image 0" descr="https://kimi-img.moonshot.cn/pub/slides/26-01-29-04:26:48-d5t7224tr22h1j0gqvig.png">    </p:cNvPr>
          <p:cNvPicPr>
            <a:picLocks noChangeAspect="1"/>
          </p:cNvPicPr>
          <p:nvPr/>
        </p:nvPicPr>
        <p:blipFill>
          <a:blip r:embed="rId1"/>
          <a:srcRect l="0" r="0" t="17" b="17"/>
          <a:stretch/>
        </p:blipFill>
        <p:spPr>
          <a:xfrm>
            <a:off x="-368808" y="1184910"/>
            <a:ext cx="12761976" cy="240792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84810" y="3752850"/>
            <a:ext cx="5627370" cy="1303020"/>
          </a:xfrm>
          <a:custGeom>
            <a:avLst/>
            <a:gdLst/>
            <a:ahLst/>
            <a:cxnLst/>
            <a:rect l="l" t="t" r="r" b="b"/>
            <a:pathLst>
              <a:path w="5627370" h="1303020">
                <a:moveTo>
                  <a:pt x="114301" y="0"/>
                </a:moveTo>
                <a:lnTo>
                  <a:pt x="5513069" y="0"/>
                </a:lnTo>
                <a:cubicBezTo>
                  <a:pt x="5576196" y="0"/>
                  <a:pt x="5627370" y="51174"/>
                  <a:pt x="5627370" y="114301"/>
                </a:cubicBezTo>
                <a:lnTo>
                  <a:pt x="5627370" y="1188719"/>
                </a:lnTo>
                <a:cubicBezTo>
                  <a:pt x="5627370" y="1251846"/>
                  <a:pt x="5576196" y="1303020"/>
                  <a:pt x="5513069" y="1303020"/>
                </a:cubicBezTo>
                <a:lnTo>
                  <a:pt x="114301" y="1303020"/>
                </a:lnTo>
                <a:cubicBezTo>
                  <a:pt x="51174" y="1303020"/>
                  <a:pt x="0" y="1251846"/>
                  <a:pt x="0" y="1188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 w="1016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1020" y="39090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4845" y="402336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9525"/>
                </a:moveTo>
                <a:cubicBezTo>
                  <a:pt x="76200" y="4256"/>
                  <a:pt x="71944" y="0"/>
                  <a:pt x="66675" y="0"/>
                </a:cubicBezTo>
                <a:cubicBezTo>
                  <a:pt x="61406" y="0"/>
                  <a:pt x="57150" y="4256"/>
                  <a:pt x="57150" y="9525"/>
                </a:cubicBezTo>
                <a:lnTo>
                  <a:pt x="57150" y="72241"/>
                </a:lnTo>
                <a:lnTo>
                  <a:pt x="44827" y="59918"/>
                </a:lnTo>
                <a:cubicBezTo>
                  <a:pt x="41106" y="56197"/>
                  <a:pt x="35064" y="56197"/>
                  <a:pt x="31343" y="59918"/>
                </a:cubicBezTo>
                <a:cubicBezTo>
                  <a:pt x="27622" y="63639"/>
                  <a:pt x="27622" y="69681"/>
                  <a:pt x="31343" y="73402"/>
                </a:cubicBezTo>
                <a:lnTo>
                  <a:pt x="59918" y="101977"/>
                </a:lnTo>
                <a:cubicBezTo>
                  <a:pt x="63639" y="105698"/>
                  <a:pt x="69681" y="105698"/>
                  <a:pt x="73402" y="101977"/>
                </a:cubicBezTo>
                <a:lnTo>
                  <a:pt x="101977" y="73402"/>
                </a:lnTo>
                <a:cubicBezTo>
                  <a:pt x="105698" y="69681"/>
                  <a:pt x="105698" y="63639"/>
                  <a:pt x="101977" y="59918"/>
                </a:cubicBezTo>
                <a:cubicBezTo>
                  <a:pt x="98256" y="56197"/>
                  <a:pt x="92214" y="56197"/>
                  <a:pt x="88493" y="59918"/>
                </a:cubicBezTo>
                <a:lnTo>
                  <a:pt x="76200" y="72241"/>
                </a:lnTo>
                <a:lnTo>
                  <a:pt x="76200" y="9525"/>
                </a:lnTo>
                <a:close/>
                <a:moveTo>
                  <a:pt x="19050" y="95250"/>
                </a:moveTo>
                <a:cubicBezTo>
                  <a:pt x="8543" y="95250"/>
                  <a:pt x="0" y="103793"/>
                  <a:pt x="0" y="114300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14300"/>
                </a:lnTo>
                <a:cubicBezTo>
                  <a:pt x="133350" y="103793"/>
                  <a:pt x="124807" y="95250"/>
                  <a:pt x="114300" y="95250"/>
                </a:cubicBezTo>
                <a:lnTo>
                  <a:pt x="100340" y="95250"/>
                </a:lnTo>
                <a:lnTo>
                  <a:pt x="83493" y="112097"/>
                </a:lnTo>
                <a:cubicBezTo>
                  <a:pt x="74206" y="121384"/>
                  <a:pt x="59115" y="121384"/>
                  <a:pt x="49828" y="112097"/>
                </a:cubicBezTo>
                <a:lnTo>
                  <a:pt x="33010" y="95250"/>
                </a:lnTo>
                <a:lnTo>
                  <a:pt x="19050" y="95250"/>
                </a:lnTo>
                <a:close/>
                <a:moveTo>
                  <a:pt x="109537" y="111919"/>
                </a:moveTo>
                <a:cubicBezTo>
                  <a:pt x="113480" y="111919"/>
                  <a:pt x="116681" y="115120"/>
                  <a:pt x="116681" y="119062"/>
                </a:cubicBezTo>
                <a:cubicBezTo>
                  <a:pt x="116681" y="123005"/>
                  <a:pt x="113480" y="126206"/>
                  <a:pt x="109537" y="126206"/>
                </a:cubicBezTo>
                <a:cubicBezTo>
                  <a:pt x="105595" y="126206"/>
                  <a:pt x="102394" y="123005"/>
                  <a:pt x="102394" y="119062"/>
                </a:cubicBezTo>
                <a:cubicBezTo>
                  <a:pt x="102394" y="115120"/>
                  <a:pt x="105595" y="111919"/>
                  <a:pt x="109537" y="11191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9" name="Text 6"/>
          <p:cNvSpPr/>
          <p:nvPr/>
        </p:nvSpPr>
        <p:spPr>
          <a:xfrm>
            <a:off x="1036320" y="396621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Ingestion Pipeline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1020" y="440436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Documents flow from Wikipedia API through text splitting and embedding generation into FAISS vector store for persistent retrieval.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6010" y="3752850"/>
            <a:ext cx="5627370" cy="1303020"/>
          </a:xfrm>
          <a:custGeom>
            <a:avLst/>
            <a:gdLst/>
            <a:ahLst/>
            <a:cxnLst/>
            <a:rect l="l" t="t" r="r" b="b"/>
            <a:pathLst>
              <a:path w="5627370" h="1303020">
                <a:moveTo>
                  <a:pt x="114301" y="0"/>
                </a:moveTo>
                <a:lnTo>
                  <a:pt x="5513069" y="0"/>
                </a:lnTo>
                <a:cubicBezTo>
                  <a:pt x="5576196" y="0"/>
                  <a:pt x="5627370" y="51174"/>
                  <a:pt x="5627370" y="114301"/>
                </a:cubicBezTo>
                <a:lnTo>
                  <a:pt x="5627370" y="1188719"/>
                </a:lnTo>
                <a:cubicBezTo>
                  <a:pt x="5627370" y="1251846"/>
                  <a:pt x="5576196" y="1303020"/>
                  <a:pt x="5513069" y="1303020"/>
                </a:cubicBezTo>
                <a:lnTo>
                  <a:pt x="114301" y="1303020"/>
                </a:lnTo>
                <a:cubicBezTo>
                  <a:pt x="51174" y="1303020"/>
                  <a:pt x="0" y="1251846"/>
                  <a:pt x="0" y="1188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32220" y="39090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446520" y="402336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827520" y="396621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Query Pipeline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32220" y="440436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queries trigger semantic search in FAISS, retrieving top-k relevant chunks to augment LLM context for grounded generation.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Ingestion Layer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184910"/>
            <a:ext cx="4446270" cy="5284470"/>
          </a:xfrm>
          <a:custGeom>
            <a:avLst/>
            <a:gdLst/>
            <a:ahLst/>
            <a:cxnLst/>
            <a:rect l="l" t="t" r="r" b="b"/>
            <a:pathLst>
              <a:path w="4446270" h="5284470">
                <a:moveTo>
                  <a:pt x="114314" y="0"/>
                </a:moveTo>
                <a:lnTo>
                  <a:pt x="4331956" y="0"/>
                </a:lnTo>
                <a:cubicBezTo>
                  <a:pt x="4395090" y="0"/>
                  <a:pt x="4446270" y="51180"/>
                  <a:pt x="4446270" y="114314"/>
                </a:cubicBezTo>
                <a:lnTo>
                  <a:pt x="4446270" y="5170156"/>
                </a:lnTo>
                <a:cubicBezTo>
                  <a:pt x="4446270" y="5233290"/>
                  <a:pt x="4395090" y="5284470"/>
                  <a:pt x="4331956" y="5284470"/>
                </a:cubicBezTo>
                <a:lnTo>
                  <a:pt x="114314" y="5284470"/>
                </a:lnTo>
                <a:cubicBezTo>
                  <a:pt x="51180" y="5284470"/>
                  <a:pt x="0" y="5233290"/>
                  <a:pt x="0" y="5170156"/>
                </a:cubicBezTo>
                <a:lnTo>
                  <a:pt x="0" y="114314"/>
                </a:lnTo>
                <a:cubicBezTo>
                  <a:pt x="0" y="51180"/>
                  <a:pt x="51180" y="0"/>
                  <a:pt x="114314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 w="1016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" y="21240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40000"/>
                </a:srgbClr>
              </a:gs>
              <a:gs pos="100000">
                <a:srgbClr val="06B6D4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799386" y="22860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379220" y="2162175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Wikipedia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9220" y="2466856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Knowledge Base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" y="2962275"/>
            <a:ext cx="4057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entry point for document acquisition. Wikipedia provides structured, factual content spanning millions of topics.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33010" y="1184910"/>
            <a:ext cx="6770370" cy="1655445"/>
          </a:xfrm>
          <a:custGeom>
            <a:avLst/>
            <a:gdLst/>
            <a:ahLst/>
            <a:cxnLst/>
            <a:rect l="l" t="t" r="r" b="b"/>
            <a:pathLst>
              <a:path w="6770370" h="1655445">
                <a:moveTo>
                  <a:pt x="114292" y="0"/>
                </a:moveTo>
                <a:lnTo>
                  <a:pt x="6656078" y="0"/>
                </a:lnTo>
                <a:cubicBezTo>
                  <a:pt x="6719200" y="0"/>
                  <a:pt x="6770370" y="51170"/>
                  <a:pt x="6770370" y="114292"/>
                </a:cubicBezTo>
                <a:lnTo>
                  <a:pt x="6770370" y="1541153"/>
                </a:lnTo>
                <a:cubicBezTo>
                  <a:pt x="6770370" y="1604275"/>
                  <a:pt x="6719200" y="1655445"/>
                  <a:pt x="6656078" y="1655445"/>
                </a:cubicBezTo>
                <a:lnTo>
                  <a:pt x="114292" y="1655445"/>
                </a:lnTo>
                <a:cubicBezTo>
                  <a:pt x="51170" y="1655445"/>
                  <a:pt x="0" y="1604275"/>
                  <a:pt x="0" y="1541153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27320" y="1379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60670" y="149352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5722620" y="1436370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 Loading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27320" y="1874520"/>
            <a:ext cx="6457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Raw text is extracted from Wikipedia pages and normalized into a standardized document format, preserving content structure and metadata.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33010" y="3000971"/>
            <a:ext cx="6770370" cy="1655445"/>
          </a:xfrm>
          <a:custGeom>
            <a:avLst/>
            <a:gdLst/>
            <a:ahLst/>
            <a:cxnLst/>
            <a:rect l="l" t="t" r="r" b="b"/>
            <a:pathLst>
              <a:path w="6770370" h="1655445">
                <a:moveTo>
                  <a:pt x="114292" y="0"/>
                </a:moveTo>
                <a:lnTo>
                  <a:pt x="6656078" y="0"/>
                </a:lnTo>
                <a:cubicBezTo>
                  <a:pt x="6719200" y="0"/>
                  <a:pt x="6770370" y="51170"/>
                  <a:pt x="6770370" y="114292"/>
                </a:cubicBezTo>
                <a:lnTo>
                  <a:pt x="6770370" y="1541153"/>
                </a:lnTo>
                <a:cubicBezTo>
                  <a:pt x="6770370" y="1604275"/>
                  <a:pt x="6719200" y="1655445"/>
                  <a:pt x="6656078" y="1655445"/>
                </a:cubicBezTo>
                <a:lnTo>
                  <a:pt x="114292" y="1655445"/>
                </a:lnTo>
                <a:cubicBezTo>
                  <a:pt x="51170" y="1655445"/>
                  <a:pt x="0" y="1604275"/>
                  <a:pt x="0" y="1541153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27320" y="31952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32095" y="330958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9420" y="11638"/>
                </a:moveTo>
                <a:lnTo>
                  <a:pt x="163532" y="56376"/>
                </a:lnTo>
                <a:cubicBezTo>
                  <a:pt x="171777" y="64740"/>
                  <a:pt x="171777" y="78135"/>
                  <a:pt x="163532" y="86499"/>
                </a:cubicBezTo>
                <a:lnTo>
                  <a:pt x="116979" y="133618"/>
                </a:lnTo>
                <a:cubicBezTo>
                  <a:pt x="114211" y="136416"/>
                  <a:pt x="109686" y="136446"/>
                  <a:pt x="106888" y="133677"/>
                </a:cubicBezTo>
                <a:cubicBezTo>
                  <a:pt x="104090" y="130909"/>
                  <a:pt x="104061" y="126385"/>
                  <a:pt x="106829" y="123587"/>
                </a:cubicBezTo>
                <a:lnTo>
                  <a:pt x="153382" y="76438"/>
                </a:lnTo>
                <a:cubicBezTo>
                  <a:pt x="156121" y="73670"/>
                  <a:pt x="156121" y="69175"/>
                  <a:pt x="153382" y="66407"/>
                </a:cubicBezTo>
                <a:lnTo>
                  <a:pt x="109240" y="21699"/>
                </a:lnTo>
                <a:cubicBezTo>
                  <a:pt x="106472" y="18901"/>
                  <a:pt x="106501" y="14377"/>
                  <a:pt x="109299" y="11609"/>
                </a:cubicBezTo>
                <a:cubicBezTo>
                  <a:pt x="112097" y="8840"/>
                  <a:pt x="116622" y="8870"/>
                  <a:pt x="119390" y="11668"/>
                </a:cubicBezTo>
                <a:close/>
                <a:moveTo>
                  <a:pt x="9555" y="68312"/>
                </a:moveTo>
                <a:lnTo>
                  <a:pt x="9555" y="28575"/>
                </a:lnTo>
                <a:cubicBezTo>
                  <a:pt x="9555" y="18068"/>
                  <a:pt x="18098" y="9525"/>
                  <a:pt x="28605" y="9525"/>
                </a:cubicBezTo>
                <a:lnTo>
                  <a:pt x="68342" y="9525"/>
                </a:lnTo>
                <a:cubicBezTo>
                  <a:pt x="73402" y="9525"/>
                  <a:pt x="78254" y="11519"/>
                  <a:pt x="81826" y="15091"/>
                </a:cubicBezTo>
                <a:lnTo>
                  <a:pt x="124688" y="57954"/>
                </a:lnTo>
                <a:cubicBezTo>
                  <a:pt x="132130" y="65395"/>
                  <a:pt x="132130" y="77450"/>
                  <a:pt x="124688" y="84892"/>
                </a:cubicBezTo>
                <a:lnTo>
                  <a:pt x="84951" y="124629"/>
                </a:lnTo>
                <a:cubicBezTo>
                  <a:pt x="77510" y="132070"/>
                  <a:pt x="65455" y="132070"/>
                  <a:pt x="58013" y="124629"/>
                </a:cubicBezTo>
                <a:lnTo>
                  <a:pt x="15151" y="81766"/>
                </a:lnTo>
                <a:cubicBezTo>
                  <a:pt x="11579" y="78194"/>
                  <a:pt x="9585" y="73343"/>
                  <a:pt x="9585" y="68282"/>
                </a:cubicBezTo>
                <a:close/>
                <a:moveTo>
                  <a:pt x="52417" y="42863"/>
                </a:moveTo>
                <a:cubicBezTo>
                  <a:pt x="52417" y="37606"/>
                  <a:pt x="48149" y="33338"/>
                  <a:pt x="42892" y="33338"/>
                </a:cubicBezTo>
                <a:cubicBezTo>
                  <a:pt x="37635" y="33338"/>
                  <a:pt x="33367" y="37606"/>
                  <a:pt x="33367" y="42863"/>
                </a:cubicBezTo>
                <a:cubicBezTo>
                  <a:pt x="33367" y="48119"/>
                  <a:pt x="37635" y="52388"/>
                  <a:pt x="42892" y="52388"/>
                </a:cubicBezTo>
                <a:cubicBezTo>
                  <a:pt x="48149" y="52388"/>
                  <a:pt x="52417" y="48119"/>
                  <a:pt x="52417" y="4286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722620" y="3252432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Preservation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27320" y="3690582"/>
            <a:ext cx="6457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document retains source attribution, including article title and URL, enabling traceability and citation in generated responses.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33010" y="4817151"/>
            <a:ext cx="6770370" cy="1655445"/>
          </a:xfrm>
          <a:custGeom>
            <a:avLst/>
            <a:gdLst/>
            <a:ahLst/>
            <a:cxnLst/>
            <a:rect l="l" t="t" r="r" b="b"/>
            <a:pathLst>
              <a:path w="6770370" h="1655445">
                <a:moveTo>
                  <a:pt x="114292" y="0"/>
                </a:moveTo>
                <a:lnTo>
                  <a:pt x="6656078" y="0"/>
                </a:lnTo>
                <a:cubicBezTo>
                  <a:pt x="6719200" y="0"/>
                  <a:pt x="6770370" y="51170"/>
                  <a:pt x="6770370" y="114292"/>
                </a:cubicBezTo>
                <a:lnTo>
                  <a:pt x="6770370" y="1541153"/>
                </a:lnTo>
                <a:cubicBezTo>
                  <a:pt x="6770370" y="1604275"/>
                  <a:pt x="6719200" y="1655445"/>
                  <a:pt x="6656078" y="1655445"/>
                </a:cubicBezTo>
                <a:lnTo>
                  <a:pt x="114292" y="1655445"/>
                </a:lnTo>
                <a:cubicBezTo>
                  <a:pt x="51170" y="1655445"/>
                  <a:pt x="0" y="1604275"/>
                  <a:pt x="0" y="1541153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27320" y="50114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351145" y="512575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0006" y="9525"/>
                </a:moveTo>
                <a:lnTo>
                  <a:pt x="7144" y="9525"/>
                </a:lnTo>
                <a:cubicBezTo>
                  <a:pt x="3185" y="9525"/>
                  <a:pt x="0" y="12710"/>
                  <a:pt x="0" y="16669"/>
                </a:cubicBezTo>
                <a:lnTo>
                  <a:pt x="0" y="59531"/>
                </a:lnTo>
                <a:cubicBezTo>
                  <a:pt x="0" y="62419"/>
                  <a:pt x="1726" y="65038"/>
                  <a:pt x="4405" y="66139"/>
                </a:cubicBezTo>
                <a:cubicBezTo>
                  <a:pt x="7084" y="67241"/>
                  <a:pt x="10150" y="66615"/>
                  <a:pt x="12204" y="64591"/>
                </a:cubicBezTo>
                <a:lnTo>
                  <a:pt x="24110" y="52685"/>
                </a:lnTo>
                <a:lnTo>
                  <a:pt x="47625" y="76200"/>
                </a:lnTo>
                <a:lnTo>
                  <a:pt x="24110" y="99715"/>
                </a:lnTo>
                <a:lnTo>
                  <a:pt x="12204" y="87809"/>
                </a:lnTo>
                <a:cubicBezTo>
                  <a:pt x="10150" y="85755"/>
                  <a:pt x="7084" y="85159"/>
                  <a:pt x="4405" y="86261"/>
                </a:cubicBezTo>
                <a:cubicBezTo>
                  <a:pt x="1726" y="87362"/>
                  <a:pt x="0" y="89981"/>
                  <a:pt x="0" y="92869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lnTo>
                  <a:pt x="50006" y="142875"/>
                </a:lnTo>
                <a:cubicBezTo>
                  <a:pt x="52894" y="142875"/>
                  <a:pt x="55513" y="141149"/>
                  <a:pt x="56614" y="138470"/>
                </a:cubicBezTo>
                <a:cubicBezTo>
                  <a:pt x="57716" y="135791"/>
                  <a:pt x="57120" y="132725"/>
                  <a:pt x="55066" y="130671"/>
                </a:cubicBezTo>
                <a:lnTo>
                  <a:pt x="43160" y="118765"/>
                </a:lnTo>
                <a:lnTo>
                  <a:pt x="66675" y="95250"/>
                </a:lnTo>
                <a:lnTo>
                  <a:pt x="90190" y="118765"/>
                </a:lnTo>
                <a:lnTo>
                  <a:pt x="78284" y="130671"/>
                </a:lnTo>
                <a:cubicBezTo>
                  <a:pt x="76230" y="132725"/>
                  <a:pt x="75634" y="135791"/>
                  <a:pt x="76736" y="138470"/>
                </a:cubicBezTo>
                <a:cubicBezTo>
                  <a:pt x="77837" y="141149"/>
                  <a:pt x="80456" y="142875"/>
                  <a:pt x="83344" y="142875"/>
                </a:cubicBezTo>
                <a:lnTo>
                  <a:pt x="126206" y="142875"/>
                </a:lnTo>
                <a:cubicBezTo>
                  <a:pt x="130165" y="142875"/>
                  <a:pt x="133350" y="139690"/>
                  <a:pt x="133350" y="135731"/>
                </a:cubicBezTo>
                <a:lnTo>
                  <a:pt x="133350" y="92869"/>
                </a:lnTo>
                <a:cubicBezTo>
                  <a:pt x="133350" y="89981"/>
                  <a:pt x="131624" y="87362"/>
                  <a:pt x="128945" y="86261"/>
                </a:cubicBezTo>
                <a:cubicBezTo>
                  <a:pt x="126266" y="85159"/>
                  <a:pt x="123200" y="85755"/>
                  <a:pt x="121146" y="87809"/>
                </a:cubicBezTo>
                <a:lnTo>
                  <a:pt x="109240" y="99715"/>
                </a:lnTo>
                <a:lnTo>
                  <a:pt x="85725" y="76200"/>
                </a:lnTo>
                <a:lnTo>
                  <a:pt x="109240" y="52685"/>
                </a:lnTo>
                <a:lnTo>
                  <a:pt x="121146" y="64591"/>
                </a:lnTo>
                <a:cubicBezTo>
                  <a:pt x="123200" y="66645"/>
                  <a:pt x="126266" y="67241"/>
                  <a:pt x="128945" y="66139"/>
                </a:cubicBezTo>
                <a:cubicBezTo>
                  <a:pt x="131624" y="65038"/>
                  <a:pt x="133350" y="62419"/>
                  <a:pt x="133350" y="59531"/>
                </a:cubicBezTo>
                <a:lnTo>
                  <a:pt x="133350" y="16669"/>
                </a:lnTo>
                <a:cubicBezTo>
                  <a:pt x="133350" y="12710"/>
                  <a:pt x="130165" y="9525"/>
                  <a:pt x="126206" y="9525"/>
                </a:cubicBezTo>
                <a:lnTo>
                  <a:pt x="83344" y="9525"/>
                </a:lnTo>
                <a:cubicBezTo>
                  <a:pt x="80456" y="9525"/>
                  <a:pt x="77837" y="11251"/>
                  <a:pt x="76736" y="13930"/>
                </a:cubicBezTo>
                <a:cubicBezTo>
                  <a:pt x="75634" y="16609"/>
                  <a:pt x="76260" y="19675"/>
                  <a:pt x="78284" y="21729"/>
                </a:cubicBezTo>
                <a:lnTo>
                  <a:pt x="90190" y="33635"/>
                </a:lnTo>
                <a:lnTo>
                  <a:pt x="66675" y="57150"/>
                </a:lnTo>
                <a:lnTo>
                  <a:pt x="43160" y="33635"/>
                </a:lnTo>
                <a:lnTo>
                  <a:pt x="55066" y="21729"/>
                </a:lnTo>
                <a:cubicBezTo>
                  <a:pt x="57120" y="19675"/>
                  <a:pt x="57716" y="16609"/>
                  <a:pt x="56614" y="13930"/>
                </a:cubicBezTo>
                <a:cubicBezTo>
                  <a:pt x="55513" y="11251"/>
                  <a:pt x="52894" y="9525"/>
                  <a:pt x="50006" y="952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5722620" y="5068609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Extensibility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27320" y="5506759"/>
            <a:ext cx="6457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modular loader design supports easy integration of additional data sources: PDFs, databases, cloud storage, or enterprise repositories.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Document Processing: Text Splitting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3562351"/>
            <a:ext cx="3703320" cy="1703070"/>
          </a:xfrm>
          <a:custGeom>
            <a:avLst/>
            <a:gdLst/>
            <a:ahLst/>
            <a:cxnLst/>
            <a:rect l="l" t="t" r="r" b="b"/>
            <a:pathLst>
              <a:path w="3703320" h="1703070">
                <a:moveTo>
                  <a:pt x="114293" y="0"/>
                </a:moveTo>
                <a:lnTo>
                  <a:pt x="3589027" y="0"/>
                </a:lnTo>
                <a:cubicBezTo>
                  <a:pt x="3652149" y="0"/>
                  <a:pt x="3703320" y="51171"/>
                  <a:pt x="3703320" y="114293"/>
                </a:cubicBezTo>
                <a:lnTo>
                  <a:pt x="3703320" y="1588777"/>
                </a:lnTo>
                <a:cubicBezTo>
                  <a:pt x="3703320" y="1651899"/>
                  <a:pt x="3652149" y="1703070"/>
                  <a:pt x="3589027" y="1703070"/>
                </a:cubicBezTo>
                <a:lnTo>
                  <a:pt x="114293" y="1703070"/>
                </a:lnTo>
                <a:cubicBezTo>
                  <a:pt x="51171" y="1703070"/>
                  <a:pt x="0" y="1651899"/>
                  <a:pt x="0" y="158877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9120" y="37566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2470" y="38900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150620" y="3851911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Hierarchical Strategy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4328161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Preserves semantic boundaries by recursively applying separators: paragraphs first, then sentences, then words.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45531" y="3562351"/>
            <a:ext cx="3703320" cy="1703070"/>
          </a:xfrm>
          <a:custGeom>
            <a:avLst/>
            <a:gdLst/>
            <a:ahLst/>
            <a:cxnLst/>
            <a:rect l="l" t="t" r="r" b="b"/>
            <a:pathLst>
              <a:path w="3703320" h="1703070">
                <a:moveTo>
                  <a:pt x="114293" y="0"/>
                </a:moveTo>
                <a:lnTo>
                  <a:pt x="3589027" y="0"/>
                </a:lnTo>
                <a:cubicBezTo>
                  <a:pt x="3652149" y="0"/>
                  <a:pt x="3703320" y="51171"/>
                  <a:pt x="3703320" y="114293"/>
                </a:cubicBezTo>
                <a:lnTo>
                  <a:pt x="3703320" y="1588777"/>
                </a:lnTo>
                <a:cubicBezTo>
                  <a:pt x="3703320" y="1651899"/>
                  <a:pt x="3652149" y="1703070"/>
                  <a:pt x="3589027" y="1703070"/>
                </a:cubicBezTo>
                <a:lnTo>
                  <a:pt x="114293" y="1703070"/>
                </a:lnTo>
                <a:cubicBezTo>
                  <a:pt x="51171" y="1703070"/>
                  <a:pt x="0" y="1651899"/>
                  <a:pt x="0" y="158877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 w="1016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9841" y="37566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61284" y="389001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011341" y="3851911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Overlap Continuity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9841" y="4328161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200-character overlap prevents context loss at boundaries, ensuring concepts spanning multiple chunks remain retrievable.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06371" y="3562351"/>
            <a:ext cx="3703320" cy="1703070"/>
          </a:xfrm>
          <a:custGeom>
            <a:avLst/>
            <a:gdLst/>
            <a:ahLst/>
            <a:cxnLst/>
            <a:rect l="l" t="t" r="r" b="b"/>
            <a:pathLst>
              <a:path w="3703320" h="1703070">
                <a:moveTo>
                  <a:pt x="114293" y="0"/>
                </a:moveTo>
                <a:lnTo>
                  <a:pt x="3589027" y="0"/>
                </a:lnTo>
                <a:cubicBezTo>
                  <a:pt x="3652149" y="0"/>
                  <a:pt x="3703320" y="51171"/>
                  <a:pt x="3703320" y="114293"/>
                </a:cubicBezTo>
                <a:lnTo>
                  <a:pt x="3703320" y="1588777"/>
                </a:lnTo>
                <a:cubicBezTo>
                  <a:pt x="3703320" y="1651899"/>
                  <a:pt x="3652149" y="1703070"/>
                  <a:pt x="3589027" y="1703070"/>
                </a:cubicBezTo>
                <a:lnTo>
                  <a:pt x="114293" y="1703070"/>
                </a:lnTo>
                <a:cubicBezTo>
                  <a:pt x="51171" y="1703070"/>
                  <a:pt x="0" y="1651899"/>
                  <a:pt x="0" y="158877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0681" y="37566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57843" y="389001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70172"/>
                </a:moveTo>
                <a:cubicBezTo>
                  <a:pt x="0" y="31403"/>
                  <a:pt x="31998" y="0"/>
                  <a:pt x="71438" y="0"/>
                </a:cubicBezTo>
                <a:cubicBezTo>
                  <a:pt x="110877" y="0"/>
                  <a:pt x="142875" y="31403"/>
                  <a:pt x="142875" y="70172"/>
                </a:cubicBezTo>
                <a:cubicBezTo>
                  <a:pt x="142875" y="114560"/>
                  <a:pt x="98152" y="167767"/>
                  <a:pt x="79474" y="188044"/>
                </a:cubicBezTo>
                <a:cubicBezTo>
                  <a:pt x="75084" y="192807"/>
                  <a:pt x="67754" y="192807"/>
                  <a:pt x="63364" y="188044"/>
                </a:cubicBezTo>
                <a:cubicBezTo>
                  <a:pt x="44686" y="167767"/>
                  <a:pt x="-37" y="114560"/>
                  <a:pt x="-37" y="70172"/>
                </a:cubicBezTo>
                <a:close/>
                <a:moveTo>
                  <a:pt x="71438" y="95250"/>
                </a:moveTo>
                <a:cubicBezTo>
                  <a:pt x="84580" y="95250"/>
                  <a:pt x="95250" y="84580"/>
                  <a:pt x="95250" y="71438"/>
                </a:cubicBezTo>
                <a:cubicBezTo>
                  <a:pt x="95250" y="58295"/>
                  <a:pt x="84580" y="47625"/>
                  <a:pt x="71438" y="47625"/>
                </a:cubicBezTo>
                <a:cubicBezTo>
                  <a:pt x="58295" y="47625"/>
                  <a:pt x="47625" y="58295"/>
                  <a:pt x="47625" y="71438"/>
                </a:cubicBezTo>
                <a:cubicBezTo>
                  <a:pt x="47625" y="84580"/>
                  <a:pt x="58295" y="95250"/>
                  <a:pt x="71438" y="952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872181" y="3851911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Index Tracking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00681" y="4328161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chunk maintains its original position within the source document, enabling precise attribution during retrieval.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Embedding Generation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2019301"/>
            <a:ext cx="5589270" cy="3617595"/>
          </a:xfrm>
          <a:custGeom>
            <a:avLst/>
            <a:gdLst/>
            <a:ahLst/>
            <a:cxnLst/>
            <a:rect l="l" t="t" r="r" b="b"/>
            <a:pathLst>
              <a:path w="5589270" h="3617595">
                <a:moveTo>
                  <a:pt x="114316" y="0"/>
                </a:moveTo>
                <a:lnTo>
                  <a:pt x="5474954" y="0"/>
                </a:lnTo>
                <a:cubicBezTo>
                  <a:pt x="5538089" y="0"/>
                  <a:pt x="5589270" y="51181"/>
                  <a:pt x="5589270" y="114316"/>
                </a:cubicBezTo>
                <a:lnTo>
                  <a:pt x="5589270" y="3503279"/>
                </a:lnTo>
                <a:cubicBezTo>
                  <a:pt x="5589270" y="3566414"/>
                  <a:pt x="5538089" y="3617595"/>
                  <a:pt x="5474954" y="3617595"/>
                </a:cubicBezTo>
                <a:lnTo>
                  <a:pt x="114316" y="3617595"/>
                </a:lnTo>
                <a:cubicBezTo>
                  <a:pt x="51181" y="3617595"/>
                  <a:pt x="0" y="3566414"/>
                  <a:pt x="0" y="3503279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 w="1016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" y="225171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40000"/>
                </a:srgbClr>
              </a:gs>
              <a:gs pos="100000">
                <a:srgbClr val="06B6D4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781526" y="241363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6779" y="127527"/>
                </a:moveTo>
                <a:cubicBezTo>
                  <a:pt x="44202" y="75623"/>
                  <a:pt x="88906" y="35719"/>
                  <a:pt x="142875" y="35719"/>
                </a:cubicBezTo>
                <a:cubicBezTo>
                  <a:pt x="172455" y="35719"/>
                  <a:pt x="199244" y="47718"/>
                  <a:pt x="218666" y="67084"/>
                </a:cubicBezTo>
                <a:cubicBezTo>
                  <a:pt x="218777" y="67196"/>
                  <a:pt x="218889" y="67308"/>
                  <a:pt x="219001" y="67419"/>
                </a:cubicBezTo>
                <a:lnTo>
                  <a:pt x="223242" y="71438"/>
                </a:lnTo>
                <a:lnTo>
                  <a:pt x="196509" y="71438"/>
                </a:lnTo>
                <a:cubicBezTo>
                  <a:pt x="186630" y="71438"/>
                  <a:pt x="178650" y="79418"/>
                  <a:pt x="178650" y="89297"/>
                </a:cubicBezTo>
                <a:cubicBezTo>
                  <a:pt x="178650" y="99175"/>
                  <a:pt x="186630" y="107156"/>
                  <a:pt x="196509" y="107156"/>
                </a:cubicBezTo>
                <a:lnTo>
                  <a:pt x="267946" y="107156"/>
                </a:lnTo>
                <a:cubicBezTo>
                  <a:pt x="277825" y="107156"/>
                  <a:pt x="285806" y="99175"/>
                  <a:pt x="285806" y="89297"/>
                </a:cubicBezTo>
                <a:lnTo>
                  <a:pt x="285806" y="17859"/>
                </a:lnTo>
                <a:cubicBezTo>
                  <a:pt x="285806" y="7981"/>
                  <a:pt x="277825" y="0"/>
                  <a:pt x="267946" y="0"/>
                </a:cubicBezTo>
                <a:cubicBezTo>
                  <a:pt x="258068" y="0"/>
                  <a:pt x="250087" y="7981"/>
                  <a:pt x="250087" y="17859"/>
                </a:cubicBezTo>
                <a:lnTo>
                  <a:pt x="250087" y="47662"/>
                </a:lnTo>
                <a:lnTo>
                  <a:pt x="243780" y="41690"/>
                </a:lnTo>
                <a:cubicBezTo>
                  <a:pt x="217940" y="15962"/>
                  <a:pt x="182221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lose/>
                <a:moveTo>
                  <a:pt x="284299" y="163246"/>
                </a:moveTo>
                <a:cubicBezTo>
                  <a:pt x="285694" y="153479"/>
                  <a:pt x="278885" y="144438"/>
                  <a:pt x="269174" y="143042"/>
                </a:cubicBezTo>
                <a:cubicBezTo>
                  <a:pt x="259463" y="141647"/>
                  <a:pt x="250366" y="148456"/>
                  <a:pt x="248971" y="158167"/>
                </a:cubicBezTo>
                <a:cubicBezTo>
                  <a:pt x="241548" y="210071"/>
                  <a:pt x="196844" y="249975"/>
                  <a:pt x="142875" y="249975"/>
                </a:cubicBezTo>
                <a:cubicBezTo>
                  <a:pt x="113295" y="249975"/>
                  <a:pt x="86506" y="237976"/>
                  <a:pt x="67084" y="218610"/>
                </a:cubicBezTo>
                <a:cubicBezTo>
                  <a:pt x="66973" y="218498"/>
                  <a:pt x="66861" y="218387"/>
                  <a:pt x="66749" y="218275"/>
                </a:cubicBezTo>
                <a:lnTo>
                  <a:pt x="62508" y="214257"/>
                </a:lnTo>
                <a:lnTo>
                  <a:pt x="89241" y="214257"/>
                </a:lnTo>
                <a:cubicBezTo>
                  <a:pt x="99120" y="214257"/>
                  <a:pt x="107100" y="206276"/>
                  <a:pt x="107100" y="196397"/>
                </a:cubicBezTo>
                <a:cubicBezTo>
                  <a:pt x="107100" y="186519"/>
                  <a:pt x="99120" y="178538"/>
                  <a:pt x="89241" y="178538"/>
                </a:cubicBezTo>
                <a:lnTo>
                  <a:pt x="17859" y="178594"/>
                </a:lnTo>
                <a:cubicBezTo>
                  <a:pt x="13115" y="178594"/>
                  <a:pt x="8539" y="180491"/>
                  <a:pt x="5190" y="183896"/>
                </a:cubicBezTo>
                <a:cubicBezTo>
                  <a:pt x="1842" y="187300"/>
                  <a:pt x="-56" y="191821"/>
                  <a:pt x="0" y="196621"/>
                </a:cubicBezTo>
                <a:lnTo>
                  <a:pt x="558" y="267500"/>
                </a:lnTo>
                <a:cubicBezTo>
                  <a:pt x="614" y="277378"/>
                  <a:pt x="8706" y="285304"/>
                  <a:pt x="18585" y="285192"/>
                </a:cubicBezTo>
                <a:cubicBezTo>
                  <a:pt x="28463" y="285080"/>
                  <a:pt x="36388" y="277044"/>
                  <a:pt x="36277" y="267165"/>
                </a:cubicBezTo>
                <a:lnTo>
                  <a:pt x="36054" y="238423"/>
                </a:lnTo>
                <a:lnTo>
                  <a:pt x="42025" y="244060"/>
                </a:lnTo>
                <a:cubicBezTo>
                  <a:pt x="67866" y="269788"/>
                  <a:pt x="103529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379220" y="2289811"/>
            <a:ext cx="1914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all-MiniLM-L6-v2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9220" y="2594493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HuggingFace Embeddings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" y="3051809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chunks are transformed into dense vector representations that capture semantic meaning, enabling similarity-based retrieval.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030" y="3741419"/>
            <a:ext cx="2484120" cy="922020"/>
          </a:xfrm>
          <a:custGeom>
            <a:avLst/>
            <a:gdLst/>
            <a:ahLst/>
            <a:cxnLst/>
            <a:rect l="l" t="t" r="r" b="b"/>
            <a:pathLst>
              <a:path w="2484120" h="922020">
                <a:moveTo>
                  <a:pt x="114303" y="0"/>
                </a:moveTo>
                <a:lnTo>
                  <a:pt x="2369817" y="0"/>
                </a:lnTo>
                <a:cubicBezTo>
                  <a:pt x="2432945" y="0"/>
                  <a:pt x="2484120" y="51175"/>
                  <a:pt x="2484120" y="114303"/>
                </a:cubicBezTo>
                <a:lnTo>
                  <a:pt x="2484120" y="807717"/>
                </a:lnTo>
                <a:cubicBezTo>
                  <a:pt x="2484120" y="870845"/>
                  <a:pt x="2432945" y="922020"/>
                  <a:pt x="236981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515" y="3897632"/>
            <a:ext cx="2343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3902" y="4316732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Dimensions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61360" y="3741419"/>
            <a:ext cx="2484120" cy="922020"/>
          </a:xfrm>
          <a:custGeom>
            <a:avLst/>
            <a:gdLst/>
            <a:ahLst/>
            <a:cxnLst/>
            <a:rect l="l" t="t" r="r" b="b"/>
            <a:pathLst>
              <a:path w="2484120" h="922020">
                <a:moveTo>
                  <a:pt x="114303" y="0"/>
                </a:moveTo>
                <a:lnTo>
                  <a:pt x="2369817" y="0"/>
                </a:lnTo>
                <a:cubicBezTo>
                  <a:pt x="2432945" y="0"/>
                  <a:pt x="2484120" y="51175"/>
                  <a:pt x="2484120" y="114303"/>
                </a:cubicBezTo>
                <a:lnTo>
                  <a:pt x="2484120" y="807717"/>
                </a:lnTo>
                <a:cubicBezTo>
                  <a:pt x="2484120" y="870845"/>
                  <a:pt x="2432945" y="922020"/>
                  <a:pt x="236981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1845" y="3897632"/>
            <a:ext cx="2343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4233" y="4316732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030" y="4861560"/>
            <a:ext cx="5122545" cy="541020"/>
          </a:xfrm>
          <a:custGeom>
            <a:avLst/>
            <a:gdLst/>
            <a:ahLst/>
            <a:cxnLst/>
            <a:rect l="l" t="t" r="r" b="b"/>
            <a:pathLst>
              <a:path w="5122545" h="541020">
                <a:moveTo>
                  <a:pt x="76203" y="0"/>
                </a:moveTo>
                <a:lnTo>
                  <a:pt x="5046342" y="0"/>
                </a:lnTo>
                <a:cubicBezTo>
                  <a:pt x="5088428" y="0"/>
                  <a:pt x="5122545" y="34117"/>
                  <a:pt x="5122545" y="76203"/>
                </a:cubicBezTo>
                <a:lnTo>
                  <a:pt x="5122545" y="464817"/>
                </a:lnTo>
                <a:cubicBezTo>
                  <a:pt x="5122545" y="506903"/>
                  <a:pt x="5088428" y="541020"/>
                  <a:pt x="5046342" y="541020"/>
                </a:cubicBezTo>
                <a:lnTo>
                  <a:pt x="76203" y="541020"/>
                </a:lnTo>
                <a:cubicBezTo>
                  <a:pt x="34117" y="541020"/>
                  <a:pt x="0" y="506903"/>
                  <a:pt x="0" y="4648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0" scaled="1"/>
          </a:gra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052" y="50368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129665" y="5017773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CPU-Optimized: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Runs entirely on local CPU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4110" y="1184910"/>
            <a:ext cx="5589270" cy="1655445"/>
          </a:xfrm>
          <a:custGeom>
            <a:avLst/>
            <a:gdLst/>
            <a:ahLst/>
            <a:cxnLst/>
            <a:rect l="l" t="t" r="r" b="b"/>
            <a:pathLst>
              <a:path w="5589270" h="1655445">
                <a:moveTo>
                  <a:pt x="114292" y="0"/>
                </a:moveTo>
                <a:lnTo>
                  <a:pt x="5474978" y="0"/>
                </a:lnTo>
                <a:cubicBezTo>
                  <a:pt x="5538100" y="0"/>
                  <a:pt x="5589270" y="51170"/>
                  <a:pt x="5589270" y="114292"/>
                </a:cubicBezTo>
                <a:lnTo>
                  <a:pt x="5589270" y="1541153"/>
                </a:lnTo>
                <a:cubicBezTo>
                  <a:pt x="5589270" y="1604275"/>
                  <a:pt x="5538100" y="1655445"/>
                  <a:pt x="5474978" y="1655445"/>
                </a:cubicBezTo>
                <a:lnTo>
                  <a:pt x="114292" y="1655445"/>
                </a:lnTo>
                <a:cubicBezTo>
                  <a:pt x="51170" y="1655445"/>
                  <a:pt x="0" y="1604275"/>
                  <a:pt x="0" y="1541153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8420" y="1379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22720" y="14935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764" y="-744"/>
                </a:moveTo>
                <a:cubicBezTo>
                  <a:pt x="72658" y="-4137"/>
                  <a:pt x="79921" y="-4137"/>
                  <a:pt x="85814" y="-744"/>
                </a:cubicBezTo>
                <a:lnTo>
                  <a:pt x="138172" y="29468"/>
                </a:lnTo>
                <a:cubicBezTo>
                  <a:pt x="144066" y="32861"/>
                  <a:pt x="147697" y="39172"/>
                  <a:pt x="147697" y="45958"/>
                </a:cubicBezTo>
                <a:lnTo>
                  <a:pt x="147697" y="106382"/>
                </a:lnTo>
                <a:cubicBezTo>
                  <a:pt x="147697" y="113199"/>
                  <a:pt x="144066" y="119479"/>
                  <a:pt x="138172" y="122872"/>
                </a:cubicBezTo>
                <a:lnTo>
                  <a:pt x="85814" y="153144"/>
                </a:lnTo>
                <a:cubicBezTo>
                  <a:pt x="79921" y="156537"/>
                  <a:pt x="72658" y="156537"/>
                  <a:pt x="66764" y="153144"/>
                </a:cubicBezTo>
                <a:lnTo>
                  <a:pt x="14436" y="122932"/>
                </a:lnTo>
                <a:cubicBezTo>
                  <a:pt x="8543" y="119539"/>
                  <a:pt x="4911" y="113228"/>
                  <a:pt x="4911" y="106442"/>
                </a:cubicBezTo>
                <a:lnTo>
                  <a:pt x="4911" y="46018"/>
                </a:lnTo>
                <a:cubicBezTo>
                  <a:pt x="4911" y="39201"/>
                  <a:pt x="8543" y="32921"/>
                  <a:pt x="14436" y="29528"/>
                </a:cubicBezTo>
                <a:lnTo>
                  <a:pt x="66764" y="-744"/>
                </a:lnTo>
                <a:close/>
                <a:moveTo>
                  <a:pt x="128617" y="106412"/>
                </a:moveTo>
                <a:lnTo>
                  <a:pt x="128617" y="56971"/>
                </a:lnTo>
                <a:lnTo>
                  <a:pt x="85814" y="81677"/>
                </a:lnTo>
                <a:lnTo>
                  <a:pt x="85814" y="131118"/>
                </a:lnTo>
                <a:lnTo>
                  <a:pt x="128617" y="106412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436370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 Representation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8420" y="187452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text chunk is encoded into a 384-dimensional dense vector where semantically similar texts map to nearby points in vector space.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4110" y="3000971"/>
            <a:ext cx="5589270" cy="1655445"/>
          </a:xfrm>
          <a:custGeom>
            <a:avLst/>
            <a:gdLst/>
            <a:ahLst/>
            <a:cxnLst/>
            <a:rect l="l" t="t" r="r" b="b"/>
            <a:pathLst>
              <a:path w="5589270" h="1655445">
                <a:moveTo>
                  <a:pt x="114292" y="0"/>
                </a:moveTo>
                <a:lnTo>
                  <a:pt x="5474978" y="0"/>
                </a:lnTo>
                <a:cubicBezTo>
                  <a:pt x="5538100" y="0"/>
                  <a:pt x="5589270" y="51170"/>
                  <a:pt x="5589270" y="114292"/>
                </a:cubicBezTo>
                <a:lnTo>
                  <a:pt x="5589270" y="1541153"/>
                </a:lnTo>
                <a:cubicBezTo>
                  <a:pt x="5589270" y="1604275"/>
                  <a:pt x="5538100" y="1655445"/>
                  <a:pt x="5474978" y="1655445"/>
                </a:cubicBezTo>
                <a:lnTo>
                  <a:pt x="114292" y="1655445"/>
                </a:lnTo>
                <a:cubicBezTo>
                  <a:pt x="51170" y="1655445"/>
                  <a:pt x="0" y="1604275"/>
                  <a:pt x="0" y="1541153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8420" y="31952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32245" y="330957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3252429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Efficiency &amp; Speed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8420" y="3690579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MiniLM architecture delivers state-of-the-art retrieval performance with minimal computational overhead, processing thousands of chunks per second.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4110" y="4817149"/>
            <a:ext cx="5589270" cy="1655445"/>
          </a:xfrm>
          <a:custGeom>
            <a:avLst/>
            <a:gdLst/>
            <a:ahLst/>
            <a:cxnLst/>
            <a:rect l="l" t="t" r="r" b="b"/>
            <a:pathLst>
              <a:path w="5589270" h="1655445">
                <a:moveTo>
                  <a:pt x="114292" y="0"/>
                </a:moveTo>
                <a:lnTo>
                  <a:pt x="5474978" y="0"/>
                </a:lnTo>
                <a:cubicBezTo>
                  <a:pt x="5538100" y="0"/>
                  <a:pt x="5589270" y="51170"/>
                  <a:pt x="5589270" y="114292"/>
                </a:cubicBezTo>
                <a:lnTo>
                  <a:pt x="5589270" y="1541153"/>
                </a:lnTo>
                <a:cubicBezTo>
                  <a:pt x="5589270" y="1604275"/>
                  <a:pt x="5538100" y="1655445"/>
                  <a:pt x="5474978" y="1655445"/>
                </a:cubicBezTo>
                <a:lnTo>
                  <a:pt x="114292" y="1655445"/>
                </a:lnTo>
                <a:cubicBezTo>
                  <a:pt x="51170" y="1655445"/>
                  <a:pt x="0" y="1604275"/>
                  <a:pt x="0" y="1541153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8420" y="501146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22720" y="51257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5068612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 Execution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8420" y="5506762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data leaves the local environment during embedding generation, ensuring complete privacy and eliminating API costs.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Vector Storage &amp; Retrieval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184910"/>
            <a:ext cx="11418570" cy="2407920"/>
          </a:xfrm>
          <a:custGeom>
            <a:avLst/>
            <a:gdLst/>
            <a:ahLst/>
            <a:cxnLst/>
            <a:rect l="l" t="t" r="r" b="b"/>
            <a:pathLst>
              <a:path w="11418570" h="2407920">
                <a:moveTo>
                  <a:pt x="114304" y="0"/>
                </a:moveTo>
                <a:lnTo>
                  <a:pt x="11304266" y="0"/>
                </a:lnTo>
                <a:cubicBezTo>
                  <a:pt x="11367394" y="0"/>
                  <a:pt x="11418570" y="51176"/>
                  <a:pt x="11418570" y="114304"/>
                </a:cubicBezTo>
                <a:lnTo>
                  <a:pt x="11418570" y="2293616"/>
                </a:lnTo>
                <a:cubicBezTo>
                  <a:pt x="11418570" y="2356744"/>
                  <a:pt x="11367394" y="2407920"/>
                  <a:pt x="11304266" y="2407920"/>
                </a:cubicBezTo>
                <a:lnTo>
                  <a:pt x="114304" y="2407920"/>
                </a:lnTo>
                <a:cubicBezTo>
                  <a:pt x="51176" y="2407920"/>
                  <a:pt x="0" y="2356744"/>
                  <a:pt x="0" y="22936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pic>
        <p:nvPicPr>
          <p:cNvPr id="5" name="Image 0" descr="https://kimi-img.moonshot.cn/pub/slides/26-01-29-04:26:48-d5t7225dbv1nngjro5ng.png">    </p:cNvPr>
          <p:cNvPicPr>
            <a:picLocks noChangeAspect="1"/>
          </p:cNvPicPr>
          <p:nvPr/>
        </p:nvPicPr>
        <p:blipFill>
          <a:blip r:embed="rId1"/>
          <a:srcRect l="0" r="0" t="17" b="17"/>
          <a:stretch/>
        </p:blipFill>
        <p:spPr>
          <a:xfrm>
            <a:off x="541020" y="1341123"/>
            <a:ext cx="11934048" cy="2251707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84810" y="3752851"/>
            <a:ext cx="3703320" cy="1626870"/>
          </a:xfrm>
          <a:custGeom>
            <a:avLst/>
            <a:gdLst/>
            <a:ahLst/>
            <a:cxnLst/>
            <a:rect l="l" t="t" r="r" b="b"/>
            <a:pathLst>
              <a:path w="3703320" h="1626870">
                <a:moveTo>
                  <a:pt x="114304" y="0"/>
                </a:moveTo>
                <a:lnTo>
                  <a:pt x="3589016" y="0"/>
                </a:lnTo>
                <a:cubicBezTo>
                  <a:pt x="3652144" y="0"/>
                  <a:pt x="3703320" y="51176"/>
                  <a:pt x="3703320" y="114304"/>
                </a:cubicBezTo>
                <a:lnTo>
                  <a:pt x="3703320" y="1512566"/>
                </a:lnTo>
                <a:cubicBezTo>
                  <a:pt x="3703320" y="1575694"/>
                  <a:pt x="3652144" y="1626870"/>
                  <a:pt x="3589016" y="1626870"/>
                </a:cubicBezTo>
                <a:lnTo>
                  <a:pt x="114304" y="1626870"/>
                </a:lnTo>
                <a:cubicBezTo>
                  <a:pt x="51176" y="1626870"/>
                  <a:pt x="0" y="1575694"/>
                  <a:pt x="0" y="151256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9120" y="39471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93420" y="40614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1074420" y="4004309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In-Memory Speed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9120" y="4442459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FAISS stores vectors in RAM for millisecond-level query latency using optimized indexing structures.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45531" y="3752851"/>
            <a:ext cx="3703320" cy="1626870"/>
          </a:xfrm>
          <a:custGeom>
            <a:avLst/>
            <a:gdLst/>
            <a:ahLst/>
            <a:cxnLst/>
            <a:rect l="l" t="t" r="r" b="b"/>
            <a:pathLst>
              <a:path w="3703320" h="1626870">
                <a:moveTo>
                  <a:pt x="114304" y="0"/>
                </a:moveTo>
                <a:lnTo>
                  <a:pt x="3589016" y="0"/>
                </a:lnTo>
                <a:cubicBezTo>
                  <a:pt x="3652144" y="0"/>
                  <a:pt x="3703320" y="51176"/>
                  <a:pt x="3703320" y="114304"/>
                </a:cubicBezTo>
                <a:lnTo>
                  <a:pt x="3703320" y="1512566"/>
                </a:lnTo>
                <a:cubicBezTo>
                  <a:pt x="3703320" y="1575694"/>
                  <a:pt x="3652144" y="1626870"/>
                  <a:pt x="3589016" y="1626870"/>
                </a:cubicBezTo>
                <a:lnTo>
                  <a:pt x="114304" y="1626870"/>
                </a:lnTo>
                <a:cubicBezTo>
                  <a:pt x="51176" y="1626870"/>
                  <a:pt x="0" y="1575694"/>
                  <a:pt x="0" y="151256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 w="1016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9841" y="39471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563666" y="406145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51584"/>
                </a:lnTo>
                <a:cubicBezTo>
                  <a:pt x="133350" y="46524"/>
                  <a:pt x="131356" y="41672"/>
                  <a:pt x="127784" y="38100"/>
                </a:cubicBezTo>
                <a:lnTo>
                  <a:pt x="104775" y="15091"/>
                </a:lnTo>
                <a:cubicBezTo>
                  <a:pt x="101203" y="11519"/>
                  <a:pt x="96351" y="9525"/>
                  <a:pt x="91291" y="9525"/>
                </a:cubicBezTo>
                <a:lnTo>
                  <a:pt x="19050" y="9525"/>
                </a:lnTo>
                <a:close/>
                <a:moveTo>
                  <a:pt x="28575" y="38100"/>
                </a:moveTo>
                <a:cubicBezTo>
                  <a:pt x="28575" y="32831"/>
                  <a:pt x="32831" y="28575"/>
                  <a:pt x="38100" y="28575"/>
                </a:cubicBezTo>
                <a:lnTo>
                  <a:pt x="85725" y="28575"/>
                </a:lnTo>
                <a:cubicBezTo>
                  <a:pt x="90994" y="28575"/>
                  <a:pt x="95250" y="32831"/>
                  <a:pt x="95250" y="38100"/>
                </a:cubicBezTo>
                <a:lnTo>
                  <a:pt x="95250" y="57150"/>
                </a:lnTo>
                <a:cubicBezTo>
                  <a:pt x="95250" y="62419"/>
                  <a:pt x="90994" y="66675"/>
                  <a:pt x="85725" y="66675"/>
                </a:cubicBezTo>
                <a:lnTo>
                  <a:pt x="38100" y="66675"/>
                </a:lnTo>
                <a:cubicBezTo>
                  <a:pt x="32831" y="66675"/>
                  <a:pt x="28575" y="62419"/>
                  <a:pt x="28575" y="57150"/>
                </a:cubicBezTo>
                <a:lnTo>
                  <a:pt x="28575" y="38100"/>
                </a:lnTo>
                <a:close/>
                <a:moveTo>
                  <a:pt x="66675" y="85725"/>
                </a:moveTo>
                <a:cubicBezTo>
                  <a:pt x="77189" y="85725"/>
                  <a:pt x="85725" y="94261"/>
                  <a:pt x="85725" y="104775"/>
                </a:cubicBezTo>
                <a:cubicBezTo>
                  <a:pt x="85725" y="115289"/>
                  <a:pt x="77189" y="123825"/>
                  <a:pt x="66675" y="123825"/>
                </a:cubicBezTo>
                <a:cubicBezTo>
                  <a:pt x="56161" y="123825"/>
                  <a:pt x="47625" y="115289"/>
                  <a:pt x="47625" y="104775"/>
                </a:cubicBezTo>
                <a:cubicBezTo>
                  <a:pt x="47625" y="94261"/>
                  <a:pt x="56161" y="85725"/>
                  <a:pt x="66675" y="8572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4" name="Text 11"/>
          <p:cNvSpPr/>
          <p:nvPr/>
        </p:nvSpPr>
        <p:spPr>
          <a:xfrm>
            <a:off x="4935141" y="4004309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Persistence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39841" y="4442459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Vector indices are serialized to disk and automatically reloaded on startup, eliminating recompute overhead.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06371" y="3752851"/>
            <a:ext cx="3703320" cy="1626870"/>
          </a:xfrm>
          <a:custGeom>
            <a:avLst/>
            <a:gdLst/>
            <a:ahLst/>
            <a:cxnLst/>
            <a:rect l="l" t="t" r="r" b="b"/>
            <a:pathLst>
              <a:path w="3703320" h="1626870">
                <a:moveTo>
                  <a:pt x="114304" y="0"/>
                </a:moveTo>
                <a:lnTo>
                  <a:pt x="3589016" y="0"/>
                </a:lnTo>
                <a:cubicBezTo>
                  <a:pt x="3652144" y="0"/>
                  <a:pt x="3703320" y="51176"/>
                  <a:pt x="3703320" y="114304"/>
                </a:cubicBezTo>
                <a:lnTo>
                  <a:pt x="3703320" y="1512566"/>
                </a:lnTo>
                <a:cubicBezTo>
                  <a:pt x="3703320" y="1575694"/>
                  <a:pt x="3652144" y="1626870"/>
                  <a:pt x="3589016" y="1626870"/>
                </a:cubicBezTo>
                <a:lnTo>
                  <a:pt x="114304" y="1626870"/>
                </a:lnTo>
                <a:cubicBezTo>
                  <a:pt x="51176" y="1626870"/>
                  <a:pt x="0" y="1575694"/>
                  <a:pt x="0" y="151256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00681" y="39471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8434031" y="406145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28575" y="19050"/>
                </a:moveTo>
                <a:lnTo>
                  <a:pt x="85725" y="19050"/>
                </a:lnTo>
                <a:cubicBezTo>
                  <a:pt x="90994" y="19050"/>
                  <a:pt x="95250" y="23306"/>
                  <a:pt x="95250" y="28575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28575" y="47625"/>
                </a:lnTo>
                <a:cubicBezTo>
                  <a:pt x="23306" y="47625"/>
                  <a:pt x="19050" y="43369"/>
                  <a:pt x="19050" y="38100"/>
                </a:cubicBezTo>
                <a:lnTo>
                  <a:pt x="19050" y="28575"/>
                </a:lnTo>
                <a:cubicBezTo>
                  <a:pt x="19050" y="23306"/>
                  <a:pt x="23306" y="19050"/>
                  <a:pt x="28575" y="19050"/>
                </a:cubicBezTo>
                <a:close/>
                <a:moveTo>
                  <a:pt x="33338" y="69056"/>
                </a:moveTo>
                <a:cubicBezTo>
                  <a:pt x="33338" y="72999"/>
                  <a:pt x="30136" y="76200"/>
                  <a:pt x="26194" y="76200"/>
                </a:cubicBezTo>
                <a:cubicBezTo>
                  <a:pt x="22251" y="76200"/>
                  <a:pt x="19050" y="72999"/>
                  <a:pt x="19050" y="69056"/>
                </a:cubicBezTo>
                <a:cubicBezTo>
                  <a:pt x="19050" y="65114"/>
                  <a:pt x="22251" y="61912"/>
                  <a:pt x="26194" y="61912"/>
                </a:cubicBezTo>
                <a:cubicBezTo>
                  <a:pt x="30136" y="61912"/>
                  <a:pt x="33338" y="65114"/>
                  <a:pt x="33338" y="69056"/>
                </a:cubicBezTo>
                <a:close/>
                <a:moveTo>
                  <a:pt x="57150" y="76200"/>
                </a:moveTo>
                <a:cubicBezTo>
                  <a:pt x="53207" y="76200"/>
                  <a:pt x="50006" y="72999"/>
                  <a:pt x="50006" y="69056"/>
                </a:cubicBezTo>
                <a:cubicBezTo>
                  <a:pt x="50006" y="65114"/>
                  <a:pt x="53207" y="61912"/>
                  <a:pt x="57150" y="61912"/>
                </a:cubicBezTo>
                <a:cubicBezTo>
                  <a:pt x="61093" y="61912"/>
                  <a:pt x="64294" y="65114"/>
                  <a:pt x="64294" y="69056"/>
                </a:cubicBezTo>
                <a:cubicBezTo>
                  <a:pt x="64294" y="72999"/>
                  <a:pt x="61093" y="76200"/>
                  <a:pt x="57150" y="76200"/>
                </a:cubicBezTo>
                <a:close/>
                <a:moveTo>
                  <a:pt x="95250" y="69056"/>
                </a:moveTo>
                <a:cubicBezTo>
                  <a:pt x="95250" y="72999"/>
                  <a:pt x="92049" y="76200"/>
                  <a:pt x="88106" y="76200"/>
                </a:cubicBezTo>
                <a:cubicBezTo>
                  <a:pt x="84164" y="76200"/>
                  <a:pt x="80962" y="72999"/>
                  <a:pt x="80962" y="69056"/>
                </a:cubicBezTo>
                <a:cubicBezTo>
                  <a:pt x="80962" y="65114"/>
                  <a:pt x="84164" y="61912"/>
                  <a:pt x="88106" y="61912"/>
                </a:cubicBezTo>
                <a:cubicBezTo>
                  <a:pt x="92049" y="61912"/>
                  <a:pt x="95250" y="65114"/>
                  <a:pt x="95250" y="69056"/>
                </a:cubicBezTo>
                <a:close/>
                <a:moveTo>
                  <a:pt x="26194" y="104775"/>
                </a:moveTo>
                <a:cubicBezTo>
                  <a:pt x="22251" y="104775"/>
                  <a:pt x="19050" y="101574"/>
                  <a:pt x="19050" y="97631"/>
                </a:cubicBezTo>
                <a:cubicBezTo>
                  <a:pt x="19050" y="93689"/>
                  <a:pt x="22251" y="90488"/>
                  <a:pt x="26194" y="90488"/>
                </a:cubicBezTo>
                <a:cubicBezTo>
                  <a:pt x="30136" y="90488"/>
                  <a:pt x="33338" y="93689"/>
                  <a:pt x="33338" y="97631"/>
                </a:cubicBezTo>
                <a:cubicBezTo>
                  <a:pt x="33338" y="101574"/>
                  <a:pt x="30136" y="104775"/>
                  <a:pt x="26194" y="104775"/>
                </a:cubicBezTo>
                <a:close/>
                <a:moveTo>
                  <a:pt x="64294" y="97631"/>
                </a:moveTo>
                <a:cubicBezTo>
                  <a:pt x="64294" y="101574"/>
                  <a:pt x="61093" y="104775"/>
                  <a:pt x="57150" y="104775"/>
                </a:cubicBezTo>
                <a:cubicBezTo>
                  <a:pt x="53207" y="104775"/>
                  <a:pt x="50006" y="101574"/>
                  <a:pt x="50006" y="97631"/>
                </a:cubicBezTo>
                <a:cubicBezTo>
                  <a:pt x="50006" y="93689"/>
                  <a:pt x="53207" y="90488"/>
                  <a:pt x="57150" y="90488"/>
                </a:cubicBezTo>
                <a:cubicBezTo>
                  <a:pt x="61093" y="90488"/>
                  <a:pt x="64294" y="93689"/>
                  <a:pt x="64294" y="97631"/>
                </a:cubicBezTo>
                <a:close/>
                <a:moveTo>
                  <a:pt x="88106" y="104775"/>
                </a:moveTo>
                <a:cubicBezTo>
                  <a:pt x="84164" y="104775"/>
                  <a:pt x="80962" y="101574"/>
                  <a:pt x="80962" y="97631"/>
                </a:cubicBezTo>
                <a:cubicBezTo>
                  <a:pt x="80962" y="93689"/>
                  <a:pt x="84164" y="90488"/>
                  <a:pt x="88106" y="90488"/>
                </a:cubicBezTo>
                <a:cubicBezTo>
                  <a:pt x="92049" y="90488"/>
                  <a:pt x="95250" y="93689"/>
                  <a:pt x="95250" y="97631"/>
                </a:cubicBezTo>
                <a:cubicBezTo>
                  <a:pt x="95250" y="101574"/>
                  <a:pt x="92049" y="104775"/>
                  <a:pt x="88106" y="104775"/>
                </a:cubicBezTo>
                <a:close/>
                <a:moveTo>
                  <a:pt x="19050" y="126206"/>
                </a:moveTo>
                <a:cubicBezTo>
                  <a:pt x="19050" y="122247"/>
                  <a:pt x="22235" y="119062"/>
                  <a:pt x="26194" y="119062"/>
                </a:cubicBezTo>
                <a:lnTo>
                  <a:pt x="59531" y="119062"/>
                </a:lnTo>
                <a:cubicBezTo>
                  <a:pt x="63490" y="119062"/>
                  <a:pt x="66675" y="122247"/>
                  <a:pt x="66675" y="126206"/>
                </a:cubicBezTo>
                <a:cubicBezTo>
                  <a:pt x="66675" y="130165"/>
                  <a:pt x="63490" y="133350"/>
                  <a:pt x="59531" y="133350"/>
                </a:cubicBezTo>
                <a:lnTo>
                  <a:pt x="26194" y="133350"/>
                </a:lnTo>
                <a:cubicBezTo>
                  <a:pt x="22235" y="133350"/>
                  <a:pt x="19050" y="130165"/>
                  <a:pt x="19050" y="126206"/>
                </a:cubicBezTo>
                <a:close/>
                <a:moveTo>
                  <a:pt x="88106" y="119062"/>
                </a:moveTo>
                <a:cubicBezTo>
                  <a:pt x="92065" y="119062"/>
                  <a:pt x="95250" y="122247"/>
                  <a:pt x="95250" y="126206"/>
                </a:cubicBezTo>
                <a:cubicBezTo>
                  <a:pt x="95250" y="130165"/>
                  <a:pt x="92065" y="133350"/>
                  <a:pt x="88106" y="133350"/>
                </a:cubicBezTo>
                <a:cubicBezTo>
                  <a:pt x="84147" y="133350"/>
                  <a:pt x="80962" y="130165"/>
                  <a:pt x="80962" y="126206"/>
                </a:cubicBezTo>
                <a:cubicBezTo>
                  <a:pt x="80962" y="122247"/>
                  <a:pt x="84147" y="119062"/>
                  <a:pt x="88106" y="11906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8795981" y="4004309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Cosine Similarity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00681" y="4442459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Retrieval uses cosine similarity to measure semantic alignment, returning top-k most relevant chunks.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Model &amp; Generation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905001"/>
            <a:ext cx="5589270" cy="3846195"/>
          </a:xfrm>
          <a:custGeom>
            <a:avLst/>
            <a:gdLst/>
            <a:ahLst/>
            <a:cxnLst/>
            <a:rect l="l" t="t" r="r" b="b"/>
            <a:pathLst>
              <a:path w="5589270" h="3846195">
                <a:moveTo>
                  <a:pt x="114309" y="0"/>
                </a:moveTo>
                <a:lnTo>
                  <a:pt x="5474961" y="0"/>
                </a:lnTo>
                <a:cubicBezTo>
                  <a:pt x="5538092" y="0"/>
                  <a:pt x="5589270" y="51178"/>
                  <a:pt x="5589270" y="114309"/>
                </a:cubicBezTo>
                <a:lnTo>
                  <a:pt x="5589270" y="3731886"/>
                </a:lnTo>
                <a:cubicBezTo>
                  <a:pt x="5589270" y="3795017"/>
                  <a:pt x="5538092" y="3846195"/>
                  <a:pt x="5474961" y="3846195"/>
                </a:cubicBezTo>
                <a:lnTo>
                  <a:pt x="114309" y="3846195"/>
                </a:lnTo>
                <a:cubicBezTo>
                  <a:pt x="51178" y="3846195"/>
                  <a:pt x="0" y="3795017"/>
                  <a:pt x="0" y="3731886"/>
                </a:cubicBezTo>
                <a:lnTo>
                  <a:pt x="0" y="114309"/>
                </a:lnTo>
                <a:cubicBezTo>
                  <a:pt x="0" y="51178"/>
                  <a:pt x="51178" y="0"/>
                  <a:pt x="114309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 w="1016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" y="213740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40000"/>
                </a:srgbClr>
              </a:gs>
              <a:gs pos="100000">
                <a:srgbClr val="06B6D4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781526" y="229933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379220" y="2175509"/>
            <a:ext cx="1857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Llama 3.2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9220" y="2480193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Ollama Local Deployment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" y="2937509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1B parameter language model that generates responses using retrieved context, running entirely locally for privacy and efficiency.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030" y="3627119"/>
            <a:ext cx="2484120" cy="922020"/>
          </a:xfrm>
          <a:custGeom>
            <a:avLst/>
            <a:gdLst/>
            <a:ahLst/>
            <a:cxnLst/>
            <a:rect l="l" t="t" r="r" b="b"/>
            <a:pathLst>
              <a:path w="2484120" h="922020">
                <a:moveTo>
                  <a:pt x="114303" y="0"/>
                </a:moveTo>
                <a:lnTo>
                  <a:pt x="2369817" y="0"/>
                </a:lnTo>
                <a:cubicBezTo>
                  <a:pt x="2432945" y="0"/>
                  <a:pt x="2484120" y="51175"/>
                  <a:pt x="2484120" y="114303"/>
                </a:cubicBezTo>
                <a:lnTo>
                  <a:pt x="2484120" y="807717"/>
                </a:lnTo>
                <a:cubicBezTo>
                  <a:pt x="2484120" y="870845"/>
                  <a:pt x="2432945" y="922020"/>
                  <a:pt x="236981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515" y="3783332"/>
            <a:ext cx="2343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3902" y="4202432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61360" y="3627119"/>
            <a:ext cx="2484120" cy="922020"/>
          </a:xfrm>
          <a:custGeom>
            <a:avLst/>
            <a:gdLst/>
            <a:ahLst/>
            <a:cxnLst/>
            <a:rect l="l" t="t" r="r" b="b"/>
            <a:pathLst>
              <a:path w="2484120" h="922020">
                <a:moveTo>
                  <a:pt x="114303" y="0"/>
                </a:moveTo>
                <a:lnTo>
                  <a:pt x="2369817" y="0"/>
                </a:lnTo>
                <a:cubicBezTo>
                  <a:pt x="2432945" y="0"/>
                  <a:pt x="2484120" y="51175"/>
                  <a:pt x="2484120" y="114303"/>
                </a:cubicBezTo>
                <a:lnTo>
                  <a:pt x="2484120" y="807717"/>
                </a:lnTo>
                <a:cubicBezTo>
                  <a:pt x="2484120" y="870845"/>
                  <a:pt x="2432945" y="922020"/>
                  <a:pt x="236981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1845" y="3783332"/>
            <a:ext cx="2343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4233" y="4202432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030" y="4747260"/>
            <a:ext cx="5122545" cy="769620"/>
          </a:xfrm>
          <a:custGeom>
            <a:avLst/>
            <a:gdLst/>
            <a:ahLst/>
            <a:cxnLst/>
            <a:rect l="l" t="t" r="r" b="b"/>
            <a:pathLst>
              <a:path w="5122545" h="769620">
                <a:moveTo>
                  <a:pt x="76200" y="0"/>
                </a:moveTo>
                <a:lnTo>
                  <a:pt x="5046345" y="0"/>
                </a:lnTo>
                <a:cubicBezTo>
                  <a:pt x="5088429" y="0"/>
                  <a:pt x="5122545" y="34116"/>
                  <a:pt x="5122545" y="76200"/>
                </a:cubicBezTo>
                <a:lnTo>
                  <a:pt x="5122545" y="693420"/>
                </a:lnTo>
                <a:cubicBezTo>
                  <a:pt x="5122545" y="735504"/>
                  <a:pt x="5088429" y="769620"/>
                  <a:pt x="5046345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0" scaled="1"/>
          </a:gra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03473"/>
            <a:ext cx="4886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Deterministic: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Temperature of 0 ensures consistent, focused responses.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4110" y="1184910"/>
            <a:ext cx="5589270" cy="1655445"/>
          </a:xfrm>
          <a:custGeom>
            <a:avLst/>
            <a:gdLst/>
            <a:ahLst/>
            <a:cxnLst/>
            <a:rect l="l" t="t" r="r" b="b"/>
            <a:pathLst>
              <a:path w="5589270" h="1655445">
                <a:moveTo>
                  <a:pt x="114292" y="0"/>
                </a:moveTo>
                <a:lnTo>
                  <a:pt x="5474978" y="0"/>
                </a:lnTo>
                <a:cubicBezTo>
                  <a:pt x="5538100" y="0"/>
                  <a:pt x="5589270" y="51170"/>
                  <a:pt x="5589270" y="114292"/>
                </a:cubicBezTo>
                <a:lnTo>
                  <a:pt x="5589270" y="1541153"/>
                </a:lnTo>
                <a:cubicBezTo>
                  <a:pt x="5589270" y="1604275"/>
                  <a:pt x="5538100" y="1655445"/>
                  <a:pt x="5474978" y="1655445"/>
                </a:cubicBezTo>
                <a:lnTo>
                  <a:pt x="114292" y="1655445"/>
                </a:lnTo>
                <a:cubicBezTo>
                  <a:pt x="51170" y="1655445"/>
                  <a:pt x="0" y="1604275"/>
                  <a:pt x="0" y="1541153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8420" y="13792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22720" y="14935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cubicBezTo>
                  <a:pt x="77182" y="0"/>
                  <a:pt x="85725" y="6400"/>
                  <a:pt x="85725" y="14288"/>
                </a:cubicBezTo>
                <a:cubicBezTo>
                  <a:pt x="85725" y="17383"/>
                  <a:pt x="84415" y="20241"/>
                  <a:pt x="82153" y="22592"/>
                </a:cubicBezTo>
                <a:cubicBezTo>
                  <a:pt x="80189" y="24646"/>
                  <a:pt x="78581" y="27146"/>
                  <a:pt x="78581" y="30004"/>
                </a:cubicBezTo>
                <a:cubicBezTo>
                  <a:pt x="78581" y="34469"/>
                  <a:pt x="82213" y="38100"/>
                  <a:pt x="86678" y="38100"/>
                </a:cubicBezTo>
                <a:lnTo>
                  <a:pt x="100013" y="38100"/>
                </a:lnTo>
                <a:cubicBezTo>
                  <a:pt x="107900" y="38100"/>
                  <a:pt x="114300" y="44500"/>
                  <a:pt x="114300" y="52388"/>
                </a:cubicBezTo>
                <a:lnTo>
                  <a:pt x="114300" y="65723"/>
                </a:lnTo>
                <a:cubicBezTo>
                  <a:pt x="114300" y="70187"/>
                  <a:pt x="117931" y="73819"/>
                  <a:pt x="122396" y="73819"/>
                </a:cubicBezTo>
                <a:cubicBezTo>
                  <a:pt x="125224" y="73819"/>
                  <a:pt x="127754" y="72211"/>
                  <a:pt x="129808" y="70247"/>
                </a:cubicBezTo>
                <a:cubicBezTo>
                  <a:pt x="132159" y="68014"/>
                  <a:pt x="135017" y="66675"/>
                  <a:pt x="138113" y="66675"/>
                </a:cubicBezTo>
                <a:cubicBezTo>
                  <a:pt x="146000" y="66675"/>
                  <a:pt x="152400" y="75218"/>
                  <a:pt x="152400" y="85725"/>
                </a:cubicBezTo>
                <a:cubicBezTo>
                  <a:pt x="152400" y="96232"/>
                  <a:pt x="146000" y="104775"/>
                  <a:pt x="138113" y="104775"/>
                </a:cubicBezTo>
                <a:cubicBezTo>
                  <a:pt x="135017" y="104775"/>
                  <a:pt x="132130" y="103465"/>
                  <a:pt x="129808" y="101203"/>
                </a:cubicBezTo>
                <a:cubicBezTo>
                  <a:pt x="127754" y="99239"/>
                  <a:pt x="125254" y="97631"/>
                  <a:pt x="122396" y="97631"/>
                </a:cubicBezTo>
                <a:cubicBezTo>
                  <a:pt x="117931" y="97631"/>
                  <a:pt x="114300" y="101263"/>
                  <a:pt x="114300" y="105728"/>
                </a:cubicBezTo>
                <a:lnTo>
                  <a:pt x="114300" y="138113"/>
                </a:lnTo>
                <a:cubicBezTo>
                  <a:pt x="114300" y="146000"/>
                  <a:pt x="107900" y="152400"/>
                  <a:pt x="100013" y="152400"/>
                </a:cubicBezTo>
                <a:lnTo>
                  <a:pt x="83106" y="152400"/>
                </a:lnTo>
                <a:cubicBezTo>
                  <a:pt x="79296" y="152400"/>
                  <a:pt x="76200" y="149304"/>
                  <a:pt x="76200" y="145494"/>
                </a:cubicBezTo>
                <a:cubicBezTo>
                  <a:pt x="76200" y="142756"/>
                  <a:pt x="77926" y="140345"/>
                  <a:pt x="80129" y="138708"/>
                </a:cubicBezTo>
                <a:cubicBezTo>
                  <a:pt x="83582" y="136118"/>
                  <a:pt x="85725" y="132546"/>
                  <a:pt x="85725" y="128588"/>
                </a:cubicBezTo>
                <a:cubicBezTo>
                  <a:pt x="85725" y="120700"/>
                  <a:pt x="77182" y="114300"/>
                  <a:pt x="66675" y="114300"/>
                </a:cubicBezTo>
                <a:cubicBezTo>
                  <a:pt x="56168" y="114300"/>
                  <a:pt x="47625" y="120700"/>
                  <a:pt x="47625" y="128588"/>
                </a:cubicBezTo>
                <a:cubicBezTo>
                  <a:pt x="47625" y="132546"/>
                  <a:pt x="49768" y="136118"/>
                  <a:pt x="53221" y="138708"/>
                </a:cubicBezTo>
                <a:cubicBezTo>
                  <a:pt x="55424" y="140345"/>
                  <a:pt x="57150" y="142726"/>
                  <a:pt x="57150" y="145494"/>
                </a:cubicBezTo>
                <a:cubicBezTo>
                  <a:pt x="57150" y="149304"/>
                  <a:pt x="54054" y="152400"/>
                  <a:pt x="50244" y="152400"/>
                </a:cubicBezTo>
                <a:lnTo>
                  <a:pt x="14288" y="152400"/>
                </a:lnTo>
                <a:cubicBezTo>
                  <a:pt x="6400" y="152400"/>
                  <a:pt x="0" y="146000"/>
                  <a:pt x="0" y="138113"/>
                </a:cubicBezTo>
                <a:lnTo>
                  <a:pt x="0" y="102156"/>
                </a:lnTo>
                <a:cubicBezTo>
                  <a:pt x="0" y="98346"/>
                  <a:pt x="3096" y="95250"/>
                  <a:pt x="6906" y="95250"/>
                </a:cubicBezTo>
                <a:cubicBezTo>
                  <a:pt x="9644" y="95250"/>
                  <a:pt x="12055" y="96976"/>
                  <a:pt x="13692" y="99179"/>
                </a:cubicBezTo>
                <a:cubicBezTo>
                  <a:pt x="16282" y="102632"/>
                  <a:pt x="19854" y="104775"/>
                  <a:pt x="23813" y="104775"/>
                </a:cubicBezTo>
                <a:cubicBezTo>
                  <a:pt x="31700" y="104775"/>
                  <a:pt x="38100" y="96232"/>
                  <a:pt x="38100" y="85725"/>
                </a:cubicBezTo>
                <a:cubicBezTo>
                  <a:pt x="38100" y="75218"/>
                  <a:pt x="31700" y="66675"/>
                  <a:pt x="23813" y="66675"/>
                </a:cubicBezTo>
                <a:cubicBezTo>
                  <a:pt x="19854" y="66675"/>
                  <a:pt x="16282" y="68818"/>
                  <a:pt x="13692" y="72271"/>
                </a:cubicBezTo>
                <a:cubicBezTo>
                  <a:pt x="12055" y="74474"/>
                  <a:pt x="9674" y="76200"/>
                  <a:pt x="6906" y="76200"/>
                </a:cubicBezTo>
                <a:cubicBezTo>
                  <a:pt x="3096" y="76200"/>
                  <a:pt x="0" y="73104"/>
                  <a:pt x="0" y="69294"/>
                </a:cubicBezTo>
                <a:lnTo>
                  <a:pt x="0" y="52388"/>
                </a:lnTo>
                <a:cubicBezTo>
                  <a:pt x="0" y="44500"/>
                  <a:pt x="6400" y="38100"/>
                  <a:pt x="14288" y="38100"/>
                </a:cubicBezTo>
                <a:lnTo>
                  <a:pt x="46673" y="38100"/>
                </a:lnTo>
                <a:cubicBezTo>
                  <a:pt x="51137" y="38100"/>
                  <a:pt x="54769" y="34469"/>
                  <a:pt x="54769" y="30004"/>
                </a:cubicBezTo>
                <a:cubicBezTo>
                  <a:pt x="54769" y="27176"/>
                  <a:pt x="53161" y="24646"/>
                  <a:pt x="51197" y="22592"/>
                </a:cubicBezTo>
                <a:cubicBezTo>
                  <a:pt x="48964" y="20241"/>
                  <a:pt x="47625" y="17383"/>
                  <a:pt x="47625" y="14288"/>
                </a:cubicBezTo>
                <a:cubicBezTo>
                  <a:pt x="47625" y="6400"/>
                  <a:pt x="56168" y="0"/>
                  <a:pt x="66675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436373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 Augmentation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8420" y="1874523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Retrieved chunks are formatted and injected into the prompt as context, grounding the model's response in factual, retrieved information.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4110" y="3000971"/>
            <a:ext cx="5589270" cy="1655445"/>
          </a:xfrm>
          <a:custGeom>
            <a:avLst/>
            <a:gdLst/>
            <a:ahLst/>
            <a:cxnLst/>
            <a:rect l="l" t="t" r="r" b="b"/>
            <a:pathLst>
              <a:path w="5589270" h="1655445">
                <a:moveTo>
                  <a:pt x="114292" y="0"/>
                </a:moveTo>
                <a:lnTo>
                  <a:pt x="5474978" y="0"/>
                </a:lnTo>
                <a:cubicBezTo>
                  <a:pt x="5538100" y="0"/>
                  <a:pt x="5589270" y="51170"/>
                  <a:pt x="5589270" y="114292"/>
                </a:cubicBezTo>
                <a:lnTo>
                  <a:pt x="5589270" y="1541153"/>
                </a:lnTo>
                <a:cubicBezTo>
                  <a:pt x="5589270" y="1604275"/>
                  <a:pt x="5538100" y="1655445"/>
                  <a:pt x="5474978" y="1655445"/>
                </a:cubicBezTo>
                <a:lnTo>
                  <a:pt x="114292" y="1655445"/>
                </a:lnTo>
                <a:cubicBezTo>
                  <a:pt x="51170" y="1655445"/>
                  <a:pt x="0" y="1604275"/>
                  <a:pt x="0" y="1541153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8420" y="31952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22720" y="330957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3252429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Hallucination Mitigation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8420" y="3690579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Explicit instructions constrain the model to use only provided context, dramatically reducing hallucination and ensuring response accuracy.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4110" y="4817149"/>
            <a:ext cx="5589270" cy="1655445"/>
          </a:xfrm>
          <a:custGeom>
            <a:avLst/>
            <a:gdLst/>
            <a:ahLst/>
            <a:cxnLst/>
            <a:rect l="l" t="t" r="r" b="b"/>
            <a:pathLst>
              <a:path w="5589270" h="1655445">
                <a:moveTo>
                  <a:pt x="114292" y="0"/>
                </a:moveTo>
                <a:lnTo>
                  <a:pt x="5474978" y="0"/>
                </a:lnTo>
                <a:cubicBezTo>
                  <a:pt x="5538100" y="0"/>
                  <a:pt x="5589270" y="51170"/>
                  <a:pt x="5589270" y="114292"/>
                </a:cubicBezTo>
                <a:lnTo>
                  <a:pt x="5589270" y="1541153"/>
                </a:lnTo>
                <a:cubicBezTo>
                  <a:pt x="5589270" y="1604275"/>
                  <a:pt x="5538100" y="1655445"/>
                  <a:pt x="5474978" y="1655445"/>
                </a:cubicBezTo>
                <a:lnTo>
                  <a:pt x="114292" y="1655445"/>
                </a:lnTo>
                <a:cubicBezTo>
                  <a:pt x="51170" y="1655445"/>
                  <a:pt x="0" y="1604275"/>
                  <a:pt x="0" y="1541153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8420" y="501146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22720" y="51257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2689" y="2560"/>
                </a:moveTo>
                <a:cubicBezTo>
                  <a:pt x="79028" y="-833"/>
                  <a:pt x="73372" y="-833"/>
                  <a:pt x="69741" y="2560"/>
                </a:cubicBezTo>
                <a:lnTo>
                  <a:pt x="3066" y="64472"/>
                </a:lnTo>
                <a:cubicBezTo>
                  <a:pt x="208" y="67151"/>
                  <a:pt x="-744" y="71289"/>
                  <a:pt x="685" y="74920"/>
                </a:cubicBezTo>
                <a:cubicBezTo>
                  <a:pt x="2113" y="78551"/>
                  <a:pt x="5596" y="80962"/>
                  <a:pt x="9525" y="80962"/>
                </a:cubicBezTo>
                <a:lnTo>
                  <a:pt x="14288" y="80962"/>
                </a:lnTo>
                <a:lnTo>
                  <a:pt x="14288" y="133350"/>
                </a:lnTo>
                <a:cubicBezTo>
                  <a:pt x="14288" y="143857"/>
                  <a:pt x="22830" y="152400"/>
                  <a:pt x="33338" y="152400"/>
                </a:cubicBezTo>
                <a:lnTo>
                  <a:pt x="119062" y="152400"/>
                </a:lnTo>
                <a:cubicBezTo>
                  <a:pt x="129570" y="152400"/>
                  <a:pt x="138113" y="143857"/>
                  <a:pt x="138113" y="133350"/>
                </a:cubicBezTo>
                <a:lnTo>
                  <a:pt x="138113" y="80962"/>
                </a:lnTo>
                <a:lnTo>
                  <a:pt x="142875" y="80962"/>
                </a:lnTo>
                <a:cubicBezTo>
                  <a:pt x="146804" y="80962"/>
                  <a:pt x="150316" y="78551"/>
                  <a:pt x="151745" y="74920"/>
                </a:cubicBezTo>
                <a:cubicBezTo>
                  <a:pt x="153174" y="71289"/>
                  <a:pt x="152221" y="67121"/>
                  <a:pt x="149364" y="64472"/>
                </a:cubicBezTo>
                <a:lnTo>
                  <a:pt x="82689" y="2560"/>
                </a:lnTo>
                <a:close/>
                <a:moveTo>
                  <a:pt x="71438" y="95250"/>
                </a:moveTo>
                <a:lnTo>
                  <a:pt x="80962" y="95250"/>
                </a:lnTo>
                <a:cubicBezTo>
                  <a:pt x="88850" y="95250"/>
                  <a:pt x="95250" y="101650"/>
                  <a:pt x="95250" y="109537"/>
                </a:cubicBezTo>
                <a:lnTo>
                  <a:pt x="95250" y="138113"/>
                </a:lnTo>
                <a:lnTo>
                  <a:pt x="57150" y="138113"/>
                </a:lnTo>
                <a:lnTo>
                  <a:pt x="57150" y="109537"/>
                </a:lnTo>
                <a:cubicBezTo>
                  <a:pt x="57150" y="101650"/>
                  <a:pt x="63550" y="95250"/>
                  <a:pt x="71438" y="9525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5068612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 Execution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8420" y="5506762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Ollama hosts the model locally, eliminating network latency, API costs, and data privacy concerns associated with cloud-based LLM services.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End-to-End 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184910"/>
            <a:ext cx="11418570" cy="4284345"/>
          </a:xfrm>
          <a:custGeom>
            <a:avLst/>
            <a:gdLst/>
            <a:ahLst/>
            <a:cxnLst/>
            <a:rect l="l" t="t" r="r" b="b"/>
            <a:pathLst>
              <a:path w="11418570" h="4284345">
                <a:moveTo>
                  <a:pt x="114306" y="0"/>
                </a:moveTo>
                <a:lnTo>
                  <a:pt x="11304264" y="0"/>
                </a:lnTo>
                <a:cubicBezTo>
                  <a:pt x="11367393" y="0"/>
                  <a:pt x="11418570" y="51177"/>
                  <a:pt x="11418570" y="114306"/>
                </a:cubicBezTo>
                <a:lnTo>
                  <a:pt x="11418570" y="4170039"/>
                </a:lnTo>
                <a:cubicBezTo>
                  <a:pt x="11418570" y="4233168"/>
                  <a:pt x="11367393" y="4284345"/>
                  <a:pt x="11304264" y="4284345"/>
                </a:cubicBezTo>
                <a:lnTo>
                  <a:pt x="114306" y="4284345"/>
                </a:lnTo>
                <a:cubicBezTo>
                  <a:pt x="51177" y="4284345"/>
                  <a:pt x="0" y="4233168"/>
                  <a:pt x="0" y="417003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pic>
        <p:nvPicPr>
          <p:cNvPr id="5" name="Image 0" descr="https://kimi-img.moonshot.cn/pub/slides/26-01-29-04:26:48-d5t7224qdqeqh6ga7akg.png">    </p:cNvPr>
          <p:cNvPicPr>
            <a:picLocks noChangeAspect="1"/>
          </p:cNvPicPr>
          <p:nvPr/>
        </p:nvPicPr>
        <p:blipFill>
          <a:blip r:embed="rId1"/>
          <a:srcRect l="7" r="7" t="0" b="0"/>
          <a:stretch/>
        </p:blipFill>
        <p:spPr>
          <a:xfrm>
            <a:off x="-428562" y="803821"/>
            <a:ext cx="13045313" cy="4665434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84810" y="5629276"/>
            <a:ext cx="2731770" cy="845820"/>
          </a:xfrm>
          <a:custGeom>
            <a:avLst/>
            <a:gdLst/>
            <a:ahLst/>
            <a:cxnLst/>
            <a:rect l="l" t="t" r="r" b="b"/>
            <a:pathLst>
              <a:path w="2731770" h="8458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769620"/>
                </a:lnTo>
                <a:cubicBezTo>
                  <a:pt x="2731770" y="811704"/>
                  <a:pt x="2697654" y="845820"/>
                  <a:pt x="2655570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 w="1016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3870" y="5785484"/>
            <a:ext cx="2533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~50ms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7682" y="6128268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Embedding Time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80410" y="5629276"/>
            <a:ext cx="2731770" cy="845820"/>
          </a:xfrm>
          <a:custGeom>
            <a:avLst/>
            <a:gdLst/>
            <a:ahLst/>
            <a:cxnLst/>
            <a:rect l="l" t="t" r="r" b="b"/>
            <a:pathLst>
              <a:path w="2731770" h="8458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769620"/>
                </a:lnTo>
                <a:cubicBezTo>
                  <a:pt x="2731770" y="811704"/>
                  <a:pt x="2697654" y="845820"/>
                  <a:pt x="2655570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79470" y="5785484"/>
            <a:ext cx="2533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59E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~10ms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03283" y="6128268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FAISS Search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6010" y="5629276"/>
            <a:ext cx="2731770" cy="845820"/>
          </a:xfrm>
          <a:custGeom>
            <a:avLst/>
            <a:gdLst/>
            <a:ahLst/>
            <a:cxnLst/>
            <a:rect l="l" t="t" r="r" b="b"/>
            <a:pathLst>
              <a:path w="2731770" h="8458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769620"/>
                </a:lnTo>
                <a:cubicBezTo>
                  <a:pt x="2731770" y="811704"/>
                  <a:pt x="2697654" y="845820"/>
                  <a:pt x="2655570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 w="1016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5070" y="5785484"/>
            <a:ext cx="2533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~2s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98882" y="6128268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 Generation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071610" y="5629276"/>
            <a:ext cx="2731770" cy="845820"/>
          </a:xfrm>
          <a:custGeom>
            <a:avLst/>
            <a:gdLst/>
            <a:ahLst/>
            <a:cxnLst/>
            <a:rect l="l" t="t" r="r" b="b"/>
            <a:pathLst>
              <a:path w="2731770" h="8458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769620"/>
                </a:lnTo>
                <a:cubicBezTo>
                  <a:pt x="2731770" y="811704"/>
                  <a:pt x="2697654" y="845820"/>
                  <a:pt x="2655570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70670" y="5785484"/>
            <a:ext cx="2533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~2.5s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94482" y="6128268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Latency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Design Decisions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5600700" cy="1647825"/>
          </a:xfrm>
          <a:custGeom>
            <a:avLst/>
            <a:gdLst/>
            <a:ahLst/>
            <a:cxnLst/>
            <a:rect l="l" t="t" r="r" b="b"/>
            <a:pathLst>
              <a:path w="5600700" h="1647825">
                <a:moveTo>
                  <a:pt x="0" y="0"/>
                </a:moveTo>
                <a:lnTo>
                  <a:pt x="5486407" y="0"/>
                </a:lnTo>
                <a:cubicBezTo>
                  <a:pt x="5549487" y="0"/>
                  <a:pt x="5600700" y="51213"/>
                  <a:pt x="5600700" y="114293"/>
                </a:cubicBezTo>
                <a:lnTo>
                  <a:pt x="5600700" y="1533532"/>
                </a:lnTo>
                <a:cubicBezTo>
                  <a:pt x="5600700" y="1596612"/>
                  <a:pt x="5549487" y="1647825"/>
                  <a:pt x="5486407" y="1647825"/>
                </a:cubicBez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2950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14097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Privacy by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752600"/>
            <a:ext cx="4667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 components execute locally. No data leaves the machine, ensuring complete privacy and compliance with data protection requirements.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022522"/>
            <a:ext cx="5600700" cy="1647825"/>
          </a:xfrm>
          <a:custGeom>
            <a:avLst/>
            <a:gdLst/>
            <a:ahLst/>
            <a:cxnLst/>
            <a:rect l="l" t="t" r="r" b="b"/>
            <a:pathLst>
              <a:path w="5600700" h="1647825">
                <a:moveTo>
                  <a:pt x="0" y="0"/>
                </a:moveTo>
                <a:lnTo>
                  <a:pt x="5486407" y="0"/>
                </a:lnTo>
                <a:cubicBezTo>
                  <a:pt x="5549487" y="0"/>
                  <a:pt x="5600700" y="51213"/>
                  <a:pt x="5600700" y="114293"/>
                </a:cubicBezTo>
                <a:lnTo>
                  <a:pt x="5600700" y="1533532"/>
                </a:lnTo>
                <a:cubicBezTo>
                  <a:pt x="5600700" y="1596612"/>
                  <a:pt x="5549487" y="1647825"/>
                  <a:pt x="5486407" y="1647825"/>
                </a:cubicBez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30000"/>
                </a:srgbClr>
              </a:gs>
              <a:gs pos="100000">
                <a:srgbClr val="F59E0B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400050" y="3022522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321302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950" y="334637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6845" y="37"/>
                </a:moveTo>
                <a:cubicBezTo>
                  <a:pt x="180529" y="-260"/>
                  <a:pt x="184138" y="1153"/>
                  <a:pt x="186742" y="3758"/>
                </a:cubicBezTo>
                <a:cubicBezTo>
                  <a:pt x="189347" y="6362"/>
                  <a:pt x="190760" y="9971"/>
                  <a:pt x="190463" y="13655"/>
                </a:cubicBezTo>
                <a:cubicBezTo>
                  <a:pt x="188975" y="31998"/>
                  <a:pt x="183989" y="60610"/>
                  <a:pt x="173236" y="87957"/>
                </a:cubicBezTo>
                <a:cubicBezTo>
                  <a:pt x="172566" y="89632"/>
                  <a:pt x="171190" y="90897"/>
                  <a:pt x="169441" y="91418"/>
                </a:cubicBezTo>
                <a:lnTo>
                  <a:pt x="139340" y="100459"/>
                </a:lnTo>
                <a:cubicBezTo>
                  <a:pt x="137889" y="100905"/>
                  <a:pt x="136922" y="102208"/>
                  <a:pt x="136922" y="103733"/>
                </a:cubicBezTo>
                <a:cubicBezTo>
                  <a:pt x="136922" y="105631"/>
                  <a:pt x="138447" y="107156"/>
                  <a:pt x="140345" y="107156"/>
                </a:cubicBezTo>
                <a:lnTo>
                  <a:pt x="154707" y="107156"/>
                </a:lnTo>
                <a:cubicBezTo>
                  <a:pt x="159172" y="107156"/>
                  <a:pt x="162037" y="111919"/>
                  <a:pt x="159730" y="115751"/>
                </a:cubicBezTo>
                <a:cubicBezTo>
                  <a:pt x="158242" y="118244"/>
                  <a:pt x="156642" y="120662"/>
                  <a:pt x="155004" y="123044"/>
                </a:cubicBezTo>
                <a:cubicBezTo>
                  <a:pt x="154260" y="124123"/>
                  <a:pt x="153144" y="124904"/>
                  <a:pt x="151879" y="125313"/>
                </a:cubicBezTo>
                <a:lnTo>
                  <a:pt x="115528" y="136178"/>
                </a:lnTo>
                <a:cubicBezTo>
                  <a:pt x="114077" y="136624"/>
                  <a:pt x="113109" y="137926"/>
                  <a:pt x="113109" y="139452"/>
                </a:cubicBezTo>
                <a:cubicBezTo>
                  <a:pt x="113109" y="141350"/>
                  <a:pt x="114635" y="142875"/>
                  <a:pt x="116532" y="142875"/>
                </a:cubicBezTo>
                <a:lnTo>
                  <a:pt x="122486" y="142875"/>
                </a:lnTo>
                <a:cubicBezTo>
                  <a:pt x="127918" y="142875"/>
                  <a:pt x="130299" y="149349"/>
                  <a:pt x="125760" y="152326"/>
                </a:cubicBezTo>
                <a:cubicBezTo>
                  <a:pt x="100459" y="169069"/>
                  <a:pt x="74526" y="168436"/>
                  <a:pt x="57894" y="163971"/>
                </a:cubicBezTo>
                <a:cubicBezTo>
                  <a:pt x="53169" y="162706"/>
                  <a:pt x="48964" y="160288"/>
                  <a:pt x="45095" y="157311"/>
                </a:cubicBezTo>
                <a:lnTo>
                  <a:pt x="17859" y="184547"/>
                </a:lnTo>
                <a:cubicBezTo>
                  <a:pt x="14585" y="187821"/>
                  <a:pt x="9227" y="187821"/>
                  <a:pt x="5953" y="184547"/>
                </a:cubicBezTo>
                <a:cubicBezTo>
                  <a:pt x="2679" y="181273"/>
                  <a:pt x="2679" y="175915"/>
                  <a:pt x="5953" y="172641"/>
                </a:cubicBezTo>
                <a:lnTo>
                  <a:pt x="35719" y="142875"/>
                </a:lnTo>
                <a:lnTo>
                  <a:pt x="35905" y="143061"/>
                </a:lnTo>
                <a:cubicBezTo>
                  <a:pt x="36165" y="142577"/>
                  <a:pt x="36500" y="142131"/>
                  <a:pt x="36909" y="141722"/>
                </a:cubicBezTo>
                <a:lnTo>
                  <a:pt x="95250" y="83344"/>
                </a:lnTo>
                <a:cubicBezTo>
                  <a:pt x="98524" y="80070"/>
                  <a:pt x="98524" y="74712"/>
                  <a:pt x="95250" y="71438"/>
                </a:cubicBezTo>
                <a:cubicBezTo>
                  <a:pt x="91976" y="68163"/>
                  <a:pt x="86618" y="68163"/>
                  <a:pt x="83344" y="71438"/>
                </a:cubicBezTo>
                <a:lnTo>
                  <a:pt x="33375" y="121369"/>
                </a:lnTo>
                <a:cubicBezTo>
                  <a:pt x="30063" y="124681"/>
                  <a:pt x="24445" y="123006"/>
                  <a:pt x="24073" y="118318"/>
                </a:cubicBezTo>
                <a:cubicBezTo>
                  <a:pt x="22473" y="98524"/>
                  <a:pt x="27533" y="72517"/>
                  <a:pt x="51085" y="48964"/>
                </a:cubicBezTo>
                <a:cubicBezTo>
                  <a:pt x="84981" y="15069"/>
                  <a:pt x="145666" y="2567"/>
                  <a:pt x="176808" y="3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" y="3213022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Lightweight Models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3555922"/>
            <a:ext cx="4667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MiniLM embeddings and 1B-parameter Llama enable fast inference on CPU, eliminating GPU requirements and reducing resource consumption.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825961"/>
            <a:ext cx="5600700" cy="1647825"/>
          </a:xfrm>
          <a:custGeom>
            <a:avLst/>
            <a:gdLst/>
            <a:ahLst/>
            <a:cxnLst/>
            <a:rect l="l" t="t" r="r" b="b"/>
            <a:pathLst>
              <a:path w="5600700" h="1647825">
                <a:moveTo>
                  <a:pt x="0" y="0"/>
                </a:moveTo>
                <a:lnTo>
                  <a:pt x="5486407" y="0"/>
                </a:lnTo>
                <a:cubicBezTo>
                  <a:pt x="5549487" y="0"/>
                  <a:pt x="5600700" y="51213"/>
                  <a:pt x="5600700" y="114293"/>
                </a:cubicBezTo>
                <a:lnTo>
                  <a:pt x="5600700" y="1533532"/>
                </a:lnTo>
                <a:cubicBezTo>
                  <a:pt x="5600700" y="1596612"/>
                  <a:pt x="5549487" y="1647825"/>
                  <a:pt x="5486407" y="1647825"/>
                </a:cubicBez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400050" y="4825961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50164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54856" y="514981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" y="5016461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FAISS for Speed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5359361"/>
            <a:ext cx="4667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In-memory vector storage delivers millisecond-level retrieval latency, enabling responsive real-time query processing.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219200"/>
            <a:ext cx="5600700" cy="1647825"/>
          </a:xfrm>
          <a:custGeom>
            <a:avLst/>
            <a:gdLst/>
            <a:ahLst/>
            <a:cxnLst/>
            <a:rect l="l" t="t" r="r" b="b"/>
            <a:pathLst>
              <a:path w="5600700" h="1647825">
                <a:moveTo>
                  <a:pt x="0" y="0"/>
                </a:moveTo>
                <a:lnTo>
                  <a:pt x="5486407" y="0"/>
                </a:lnTo>
                <a:cubicBezTo>
                  <a:pt x="5549487" y="0"/>
                  <a:pt x="5600700" y="51213"/>
                  <a:pt x="5600700" y="114293"/>
                </a:cubicBezTo>
                <a:lnTo>
                  <a:pt x="5600700" y="1533532"/>
                </a:lnTo>
                <a:cubicBezTo>
                  <a:pt x="5600700" y="1596612"/>
                  <a:pt x="5549487" y="1647825"/>
                  <a:pt x="5486407" y="1647825"/>
                </a:cubicBez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30000"/>
                </a:srgbClr>
              </a:gs>
              <a:gs pos="100000">
                <a:srgbClr val="F59E0B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6210300" y="1219200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41985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41294" y="15430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029450" y="14097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Context Preservation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29450" y="1752600"/>
            <a:ext cx="4667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Recursive splitting with strategic overlap maintains semantic continuity across chunks, improving retrieval quality.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0300" y="3022522"/>
            <a:ext cx="5600700" cy="1647825"/>
          </a:xfrm>
          <a:custGeom>
            <a:avLst/>
            <a:gdLst/>
            <a:ahLst/>
            <a:cxnLst/>
            <a:rect l="l" t="t" r="r" b="b"/>
            <a:pathLst>
              <a:path w="5600700" h="1647825">
                <a:moveTo>
                  <a:pt x="0" y="0"/>
                </a:moveTo>
                <a:lnTo>
                  <a:pt x="5486407" y="0"/>
                </a:lnTo>
                <a:cubicBezTo>
                  <a:pt x="5549487" y="0"/>
                  <a:pt x="5600700" y="51213"/>
                  <a:pt x="5600700" y="114293"/>
                </a:cubicBezTo>
                <a:lnTo>
                  <a:pt x="5600700" y="1533532"/>
                </a:lnTo>
                <a:cubicBezTo>
                  <a:pt x="5600700" y="1596612"/>
                  <a:pt x="5549487" y="1647825"/>
                  <a:pt x="5486407" y="1647825"/>
                </a:cubicBez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6210300" y="3022522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0" name="Shape 28"/>
          <p:cNvSpPr/>
          <p:nvPr/>
        </p:nvSpPr>
        <p:spPr>
          <a:xfrm>
            <a:off x="6419850" y="321302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53200" y="334637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5668" y="-484"/>
                </a:moveTo>
                <a:cubicBezTo>
                  <a:pt x="99231" y="-4204"/>
                  <a:pt x="91269" y="-4204"/>
                  <a:pt x="84832" y="-484"/>
                </a:cubicBezTo>
                <a:lnTo>
                  <a:pt x="53504" y="17599"/>
                </a:lnTo>
                <a:cubicBezTo>
                  <a:pt x="47067" y="21320"/>
                  <a:pt x="43086" y="28203"/>
                  <a:pt x="43086" y="35644"/>
                </a:cubicBezTo>
                <a:lnTo>
                  <a:pt x="43086" y="73558"/>
                </a:lnTo>
                <a:lnTo>
                  <a:pt x="10232" y="92534"/>
                </a:lnTo>
                <a:cubicBezTo>
                  <a:pt x="3795" y="96255"/>
                  <a:pt x="-186" y="103138"/>
                  <a:pt x="-186" y="110579"/>
                </a:cubicBezTo>
                <a:lnTo>
                  <a:pt x="-186" y="146782"/>
                </a:lnTo>
                <a:cubicBezTo>
                  <a:pt x="-186" y="154223"/>
                  <a:pt x="3795" y="161106"/>
                  <a:pt x="10232" y="164827"/>
                </a:cubicBezTo>
                <a:lnTo>
                  <a:pt x="41597" y="182910"/>
                </a:lnTo>
                <a:cubicBezTo>
                  <a:pt x="48034" y="186630"/>
                  <a:pt x="55997" y="186630"/>
                  <a:pt x="62433" y="182910"/>
                </a:cubicBezTo>
                <a:lnTo>
                  <a:pt x="95287" y="163934"/>
                </a:lnTo>
                <a:lnTo>
                  <a:pt x="128141" y="182910"/>
                </a:lnTo>
                <a:cubicBezTo>
                  <a:pt x="134578" y="186630"/>
                  <a:pt x="142540" y="186630"/>
                  <a:pt x="148977" y="182910"/>
                </a:cubicBezTo>
                <a:lnTo>
                  <a:pt x="180268" y="164827"/>
                </a:lnTo>
                <a:cubicBezTo>
                  <a:pt x="186705" y="161106"/>
                  <a:pt x="190686" y="154223"/>
                  <a:pt x="190686" y="146782"/>
                </a:cubicBezTo>
                <a:lnTo>
                  <a:pt x="190686" y="110579"/>
                </a:lnTo>
                <a:cubicBezTo>
                  <a:pt x="190686" y="103138"/>
                  <a:pt x="186705" y="96255"/>
                  <a:pt x="180268" y="92534"/>
                </a:cubicBezTo>
                <a:lnTo>
                  <a:pt x="147414" y="73558"/>
                </a:lnTo>
                <a:lnTo>
                  <a:pt x="147414" y="35644"/>
                </a:lnTo>
                <a:cubicBezTo>
                  <a:pt x="147414" y="28203"/>
                  <a:pt x="143433" y="21320"/>
                  <a:pt x="136996" y="17599"/>
                </a:cubicBezTo>
                <a:lnTo>
                  <a:pt x="105668" y="-484"/>
                </a:lnTo>
                <a:close/>
                <a:moveTo>
                  <a:pt x="86320" y="108868"/>
                </a:moveTo>
                <a:lnTo>
                  <a:pt x="86320" y="148493"/>
                </a:lnTo>
                <a:lnTo>
                  <a:pt x="53467" y="167469"/>
                </a:lnTo>
                <a:cubicBezTo>
                  <a:pt x="53020" y="167729"/>
                  <a:pt x="52499" y="167878"/>
                  <a:pt x="51978" y="167878"/>
                </a:cubicBezTo>
                <a:lnTo>
                  <a:pt x="51978" y="128699"/>
                </a:lnTo>
                <a:lnTo>
                  <a:pt x="86320" y="108868"/>
                </a:lnTo>
                <a:close/>
                <a:moveTo>
                  <a:pt x="172417" y="109091"/>
                </a:moveTo>
                <a:cubicBezTo>
                  <a:pt x="172678" y="109538"/>
                  <a:pt x="172827" y="110058"/>
                  <a:pt x="172827" y="110579"/>
                </a:cubicBezTo>
                <a:lnTo>
                  <a:pt x="172827" y="146782"/>
                </a:lnTo>
                <a:cubicBezTo>
                  <a:pt x="172827" y="147861"/>
                  <a:pt x="172269" y="148828"/>
                  <a:pt x="171338" y="149349"/>
                </a:cubicBezTo>
                <a:lnTo>
                  <a:pt x="139973" y="167432"/>
                </a:lnTo>
                <a:cubicBezTo>
                  <a:pt x="139526" y="167692"/>
                  <a:pt x="139005" y="167841"/>
                  <a:pt x="138485" y="167841"/>
                </a:cubicBezTo>
                <a:lnTo>
                  <a:pt x="138485" y="128662"/>
                </a:lnTo>
                <a:lnTo>
                  <a:pt x="172417" y="109091"/>
                </a:lnTo>
                <a:close/>
                <a:moveTo>
                  <a:pt x="129592" y="35644"/>
                </a:moveTo>
                <a:lnTo>
                  <a:pt x="129592" y="73558"/>
                </a:lnTo>
                <a:lnTo>
                  <a:pt x="95250" y="93390"/>
                </a:lnTo>
                <a:lnTo>
                  <a:pt x="95250" y="53764"/>
                </a:lnTo>
                <a:lnTo>
                  <a:pt x="129183" y="34193"/>
                </a:lnTo>
                <a:cubicBezTo>
                  <a:pt x="129443" y="34640"/>
                  <a:pt x="129592" y="35161"/>
                  <a:pt x="129592" y="3568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7029450" y="3213022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Modular Architecture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29450" y="3555922"/>
            <a:ext cx="4667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component is independently replaceable. Swap embedding models, vector stores, or LLMs without disrupting the pipeline.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0300" y="4825961"/>
            <a:ext cx="5600700" cy="1647825"/>
          </a:xfrm>
          <a:custGeom>
            <a:avLst/>
            <a:gdLst/>
            <a:ahLst/>
            <a:cxnLst/>
            <a:rect l="l" t="t" r="r" b="b"/>
            <a:pathLst>
              <a:path w="5600700" h="1647825">
                <a:moveTo>
                  <a:pt x="0" y="0"/>
                </a:moveTo>
                <a:lnTo>
                  <a:pt x="5486407" y="0"/>
                </a:lnTo>
                <a:cubicBezTo>
                  <a:pt x="5549487" y="0"/>
                  <a:pt x="5600700" y="51213"/>
                  <a:pt x="5600700" y="114293"/>
                </a:cubicBezTo>
                <a:lnTo>
                  <a:pt x="5600700" y="1533532"/>
                </a:lnTo>
                <a:cubicBezTo>
                  <a:pt x="5600700" y="1596612"/>
                  <a:pt x="5549487" y="1647825"/>
                  <a:pt x="5486407" y="1647825"/>
                </a:cubicBez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30000"/>
                </a:srgbClr>
              </a:gs>
              <a:gs pos="100000">
                <a:srgbClr val="F59E0B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6210300" y="4825961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419850" y="50164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88919" y="5149811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7029450" y="5016461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Zero API Costs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29450" y="5359361"/>
            <a:ext cx="4667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Open-source models and local execution eliminate per-token pricing, making the system cost-effective at any scale.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u74jlv6itcve/minimal-rag-final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/>
              </a:gs>
              <a:gs pos="50000">
                <a:srgbClr val="0F172A">
                  <a:alpha val="95000"/>
                </a:srgbClr>
              </a:gs>
              <a:gs pos="100000">
                <a:srgbClr val="0F172A">
                  <a:alpha val="80000"/>
                </a:srgbClr>
              </a:gs>
            </a:gsLst>
            <a:lin ang="162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963932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123063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Architecture 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1842" y="2334801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With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five core components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running entirely locally, it delivers a foundation for building domain-specific, privacy-preserving AI applications.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4015742"/>
            <a:ext cx="11418570" cy="1112520"/>
          </a:xfrm>
          <a:custGeom>
            <a:avLst/>
            <a:gdLst/>
            <a:ahLst/>
            <a:cxnLst/>
            <a:rect l="l" t="t" r="r" b="b"/>
            <a:pathLst>
              <a:path w="11418570" h="1112520">
                <a:moveTo>
                  <a:pt x="114300" y="0"/>
                </a:moveTo>
                <a:lnTo>
                  <a:pt x="11304270" y="0"/>
                </a:lnTo>
                <a:cubicBezTo>
                  <a:pt x="11367396" y="0"/>
                  <a:pt x="11418570" y="51174"/>
                  <a:pt x="11418570" y="114300"/>
                </a:cubicBezTo>
                <a:lnTo>
                  <a:pt x="11418570" y="998220"/>
                </a:lnTo>
                <a:cubicBezTo>
                  <a:pt x="11418570" y="1061346"/>
                  <a:pt x="11367396" y="1112520"/>
                  <a:pt x="11304270" y="1112520"/>
                </a:cubicBezTo>
                <a:lnTo>
                  <a:pt x="114300" y="1112520"/>
                </a:lnTo>
                <a:cubicBezTo>
                  <a:pt x="51174" y="1112520"/>
                  <a:pt x="0" y="1061346"/>
                  <a:pt x="0" y="998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7220" y="4248150"/>
            <a:ext cx="1828800" cy="647700"/>
          </a:xfrm>
          <a:custGeom>
            <a:avLst/>
            <a:gdLst/>
            <a:ahLst/>
            <a:cxnLst/>
            <a:rect l="l" t="t" r="r" b="b"/>
            <a:pathLst>
              <a:path w="1828800" h="647700">
                <a:moveTo>
                  <a:pt x="76202" y="0"/>
                </a:moveTo>
                <a:lnTo>
                  <a:pt x="1752598" y="0"/>
                </a:lnTo>
                <a:cubicBezTo>
                  <a:pt x="1794683" y="0"/>
                  <a:pt x="1828800" y="34117"/>
                  <a:pt x="1828800" y="76202"/>
                </a:cubicBezTo>
                <a:lnTo>
                  <a:pt x="1828800" y="571498"/>
                </a:lnTo>
                <a:cubicBezTo>
                  <a:pt x="1828800" y="613583"/>
                  <a:pt x="1794683" y="647700"/>
                  <a:pt x="17525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22008" y="4457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64294" y="214313"/>
                </a:moveTo>
                <a:cubicBezTo>
                  <a:pt x="28798" y="214313"/>
                  <a:pt x="0" y="185514"/>
                  <a:pt x="0" y="150019"/>
                </a:cubicBezTo>
                <a:cubicBezTo>
                  <a:pt x="0" y="121712"/>
                  <a:pt x="18306" y="97691"/>
                  <a:pt x="43711" y="89074"/>
                </a:cubicBezTo>
                <a:cubicBezTo>
                  <a:pt x="43130" y="85636"/>
                  <a:pt x="42863" y="82153"/>
                  <a:pt x="42863" y="78581"/>
                </a:cubicBezTo>
                <a:cubicBezTo>
                  <a:pt x="42863" y="43086"/>
                  <a:pt x="71661" y="14288"/>
                  <a:pt x="107156" y="14288"/>
                </a:cubicBezTo>
                <a:cubicBezTo>
                  <a:pt x="131891" y="14288"/>
                  <a:pt x="153367" y="28262"/>
                  <a:pt x="164128" y="48711"/>
                </a:cubicBezTo>
                <a:cubicBezTo>
                  <a:pt x="170468" y="45006"/>
                  <a:pt x="177879" y="42863"/>
                  <a:pt x="185738" y="42863"/>
                </a:cubicBezTo>
                <a:cubicBezTo>
                  <a:pt x="209401" y="42863"/>
                  <a:pt x="228600" y="62061"/>
                  <a:pt x="228600" y="85725"/>
                </a:cubicBezTo>
                <a:cubicBezTo>
                  <a:pt x="228600" y="92735"/>
                  <a:pt x="226903" y="99387"/>
                  <a:pt x="223912" y="105236"/>
                </a:cubicBezTo>
                <a:cubicBezTo>
                  <a:pt x="243557" y="114300"/>
                  <a:pt x="257175" y="134124"/>
                  <a:pt x="257175" y="157163"/>
                </a:cubicBezTo>
                <a:cubicBezTo>
                  <a:pt x="257175" y="188729"/>
                  <a:pt x="231591" y="214313"/>
                  <a:pt x="200025" y="214313"/>
                </a:cubicBezTo>
                <a:lnTo>
                  <a:pt x="64294" y="214313"/>
                </a:lnTo>
                <a:close/>
                <a:moveTo>
                  <a:pt x="168325" y="139750"/>
                </a:moveTo>
                <a:cubicBezTo>
                  <a:pt x="172522" y="135553"/>
                  <a:pt x="172522" y="128766"/>
                  <a:pt x="168325" y="124614"/>
                </a:cubicBezTo>
                <a:cubicBezTo>
                  <a:pt x="164128" y="120461"/>
                  <a:pt x="157341" y="120417"/>
                  <a:pt x="153189" y="124614"/>
                </a:cubicBezTo>
                <a:lnTo>
                  <a:pt x="139348" y="138455"/>
                </a:lnTo>
                <a:lnTo>
                  <a:pt x="139348" y="92869"/>
                </a:lnTo>
                <a:cubicBezTo>
                  <a:pt x="139348" y="86931"/>
                  <a:pt x="134570" y="82153"/>
                  <a:pt x="128632" y="82153"/>
                </a:cubicBezTo>
                <a:cubicBezTo>
                  <a:pt x="122694" y="82153"/>
                  <a:pt x="117917" y="86931"/>
                  <a:pt x="117917" y="92869"/>
                </a:cubicBezTo>
                <a:lnTo>
                  <a:pt x="117917" y="138455"/>
                </a:lnTo>
                <a:lnTo>
                  <a:pt x="104076" y="124614"/>
                </a:lnTo>
                <a:cubicBezTo>
                  <a:pt x="99879" y="120417"/>
                  <a:pt x="93092" y="120417"/>
                  <a:pt x="88940" y="124614"/>
                </a:cubicBezTo>
                <a:cubicBezTo>
                  <a:pt x="84787" y="128811"/>
                  <a:pt x="84743" y="135597"/>
                  <a:pt x="88940" y="139750"/>
                </a:cubicBezTo>
                <a:lnTo>
                  <a:pt x="121087" y="171896"/>
                </a:lnTo>
                <a:cubicBezTo>
                  <a:pt x="125284" y="176093"/>
                  <a:pt x="132070" y="176093"/>
                  <a:pt x="136222" y="171896"/>
                </a:cubicBezTo>
                <a:lnTo>
                  <a:pt x="168369" y="13975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1245870" y="436245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45870" y="4552950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Wikipedia API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09982" y="4476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3" name="Shape 10"/>
          <p:cNvSpPr/>
          <p:nvPr/>
        </p:nvSpPr>
        <p:spPr>
          <a:xfrm>
            <a:off x="3166467" y="4248150"/>
            <a:ext cx="1609725" cy="647700"/>
          </a:xfrm>
          <a:custGeom>
            <a:avLst/>
            <a:gdLst/>
            <a:ahLst/>
            <a:cxnLst/>
            <a:rect l="l" t="t" r="r" b="b"/>
            <a:pathLst>
              <a:path w="1609725" h="647700">
                <a:moveTo>
                  <a:pt x="76202" y="0"/>
                </a:moveTo>
                <a:lnTo>
                  <a:pt x="1533523" y="0"/>
                </a:lnTo>
                <a:cubicBezTo>
                  <a:pt x="1575608" y="0"/>
                  <a:pt x="1609725" y="34117"/>
                  <a:pt x="1609725" y="76202"/>
                </a:cubicBezTo>
                <a:lnTo>
                  <a:pt x="1609725" y="571498"/>
                </a:lnTo>
                <a:cubicBezTo>
                  <a:pt x="1609725" y="613583"/>
                  <a:pt x="1575608" y="647700"/>
                  <a:pt x="15335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385542" y="445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114300"/>
                </a:moveTo>
                <a:lnTo>
                  <a:pt x="68089" y="131936"/>
                </a:lnTo>
                <a:cubicBezTo>
                  <a:pt x="62463" y="129748"/>
                  <a:pt x="56391" y="128588"/>
                  <a:pt x="50006" y="128588"/>
                </a:cubicBezTo>
                <a:cubicBezTo>
                  <a:pt x="22369" y="128588"/>
                  <a:pt x="0" y="150956"/>
                  <a:pt x="0" y="178594"/>
                </a:cubicBezTo>
                <a:cubicBezTo>
                  <a:pt x="0" y="206231"/>
                  <a:pt x="22369" y="228600"/>
                  <a:pt x="50006" y="228600"/>
                </a:cubicBezTo>
                <a:cubicBezTo>
                  <a:pt x="77644" y="228600"/>
                  <a:pt x="100013" y="206231"/>
                  <a:pt x="100013" y="178594"/>
                </a:cubicBezTo>
                <a:cubicBezTo>
                  <a:pt x="100013" y="172209"/>
                  <a:pt x="98807" y="166137"/>
                  <a:pt x="96664" y="160511"/>
                </a:cubicBezTo>
                <a:lnTo>
                  <a:pt x="222885" y="34290"/>
                </a:lnTo>
                <a:cubicBezTo>
                  <a:pt x="226055" y="31120"/>
                  <a:pt x="226055" y="26030"/>
                  <a:pt x="222885" y="22860"/>
                </a:cubicBezTo>
                <a:cubicBezTo>
                  <a:pt x="210249" y="10224"/>
                  <a:pt x="189801" y="10224"/>
                  <a:pt x="177165" y="22860"/>
                </a:cubicBezTo>
                <a:lnTo>
                  <a:pt x="114300" y="85725"/>
                </a:lnTo>
                <a:lnTo>
                  <a:pt x="96664" y="68089"/>
                </a:lnTo>
                <a:cubicBezTo>
                  <a:pt x="98852" y="62463"/>
                  <a:pt x="100013" y="56391"/>
                  <a:pt x="100013" y="50006"/>
                </a:cubicBezTo>
                <a:cubicBezTo>
                  <a:pt x="100013" y="22369"/>
                  <a:pt x="77644" y="0"/>
                  <a:pt x="50006" y="0"/>
                </a:cubicBezTo>
                <a:cubicBezTo>
                  <a:pt x="22369" y="0"/>
                  <a:pt x="0" y="22369"/>
                  <a:pt x="0" y="50006"/>
                </a:cubicBezTo>
                <a:cubicBezTo>
                  <a:pt x="0" y="77644"/>
                  <a:pt x="22369" y="100013"/>
                  <a:pt x="50006" y="100013"/>
                </a:cubicBezTo>
                <a:cubicBezTo>
                  <a:pt x="56391" y="100013"/>
                  <a:pt x="62463" y="98807"/>
                  <a:pt x="68089" y="96664"/>
                </a:cubicBezTo>
                <a:lnTo>
                  <a:pt x="85725" y="114300"/>
                </a:lnTo>
                <a:close/>
                <a:moveTo>
                  <a:pt x="129436" y="158011"/>
                </a:moveTo>
                <a:lnTo>
                  <a:pt x="177165" y="205740"/>
                </a:lnTo>
                <a:cubicBezTo>
                  <a:pt x="189801" y="218376"/>
                  <a:pt x="210249" y="218376"/>
                  <a:pt x="222885" y="205740"/>
                </a:cubicBezTo>
                <a:cubicBezTo>
                  <a:pt x="226055" y="202570"/>
                  <a:pt x="226055" y="197480"/>
                  <a:pt x="222885" y="194310"/>
                </a:cubicBezTo>
                <a:lnTo>
                  <a:pt x="158011" y="129436"/>
                </a:lnTo>
                <a:lnTo>
                  <a:pt x="129436" y="158011"/>
                </a:lnTo>
                <a:close/>
                <a:moveTo>
                  <a:pt x="28575" y="50006"/>
                </a:moveTo>
                <a:cubicBezTo>
                  <a:pt x="28575" y="38178"/>
                  <a:pt x="38178" y="28575"/>
                  <a:pt x="50006" y="28575"/>
                </a:cubicBezTo>
                <a:cubicBezTo>
                  <a:pt x="61834" y="28575"/>
                  <a:pt x="71438" y="38178"/>
                  <a:pt x="71438" y="50006"/>
                </a:cubicBezTo>
                <a:cubicBezTo>
                  <a:pt x="71438" y="61834"/>
                  <a:pt x="61834" y="71438"/>
                  <a:pt x="50006" y="71438"/>
                </a:cubicBezTo>
                <a:cubicBezTo>
                  <a:pt x="38178" y="71438"/>
                  <a:pt x="28575" y="61834"/>
                  <a:pt x="28575" y="50006"/>
                </a:cubicBezTo>
                <a:close/>
                <a:moveTo>
                  <a:pt x="50006" y="157163"/>
                </a:moveTo>
                <a:cubicBezTo>
                  <a:pt x="61834" y="157163"/>
                  <a:pt x="71438" y="166766"/>
                  <a:pt x="71438" y="178594"/>
                </a:cubicBezTo>
                <a:cubicBezTo>
                  <a:pt x="71438" y="190422"/>
                  <a:pt x="61834" y="200025"/>
                  <a:pt x="50006" y="200025"/>
                </a:cubicBezTo>
                <a:cubicBezTo>
                  <a:pt x="38178" y="200025"/>
                  <a:pt x="28575" y="190422"/>
                  <a:pt x="28575" y="178594"/>
                </a:cubicBezTo>
                <a:cubicBezTo>
                  <a:pt x="28575" y="166766"/>
                  <a:pt x="38178" y="157163"/>
                  <a:pt x="50006" y="15716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5" name="Text 12"/>
          <p:cNvSpPr/>
          <p:nvPr/>
        </p:nvSpPr>
        <p:spPr>
          <a:xfrm>
            <a:off x="3795117" y="436245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Splitter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95117" y="4552950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038963" y="4476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Shape 15"/>
          <p:cNvSpPr/>
          <p:nvPr/>
        </p:nvSpPr>
        <p:spPr>
          <a:xfrm>
            <a:off x="5495330" y="4248150"/>
            <a:ext cx="1562100" cy="647700"/>
          </a:xfrm>
          <a:custGeom>
            <a:avLst/>
            <a:gdLst/>
            <a:ahLst/>
            <a:cxnLst/>
            <a:rect l="l" t="t" r="r" b="b"/>
            <a:pathLst>
              <a:path w="1562100" h="647700">
                <a:moveTo>
                  <a:pt x="76202" y="0"/>
                </a:moveTo>
                <a:lnTo>
                  <a:pt x="1485898" y="0"/>
                </a:lnTo>
                <a:cubicBezTo>
                  <a:pt x="1527983" y="0"/>
                  <a:pt x="1562100" y="34117"/>
                  <a:pt x="1562100" y="76202"/>
                </a:cubicBezTo>
                <a:lnTo>
                  <a:pt x="1562100" y="571498"/>
                </a:lnTo>
                <a:cubicBezTo>
                  <a:pt x="1562100" y="613583"/>
                  <a:pt x="1527983" y="647700"/>
                  <a:pt x="14858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714405" y="445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6123980" y="436245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23980" y="4552950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MiniLM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321748" y="4476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3" name="Shape 20"/>
          <p:cNvSpPr/>
          <p:nvPr/>
        </p:nvSpPr>
        <p:spPr>
          <a:xfrm>
            <a:off x="7778234" y="4248150"/>
            <a:ext cx="1562100" cy="647700"/>
          </a:xfrm>
          <a:custGeom>
            <a:avLst/>
            <a:gdLst/>
            <a:ahLst/>
            <a:cxnLst/>
            <a:rect l="l" t="t" r="r" b="b"/>
            <a:pathLst>
              <a:path w="1562100" h="647700">
                <a:moveTo>
                  <a:pt x="76202" y="0"/>
                </a:moveTo>
                <a:lnTo>
                  <a:pt x="1485898" y="0"/>
                </a:lnTo>
                <a:cubicBezTo>
                  <a:pt x="1527983" y="0"/>
                  <a:pt x="1562100" y="34117"/>
                  <a:pt x="1562100" y="76202"/>
                </a:cubicBezTo>
                <a:lnTo>
                  <a:pt x="1562100" y="571498"/>
                </a:lnTo>
                <a:cubicBezTo>
                  <a:pt x="1562100" y="613583"/>
                  <a:pt x="1527983" y="647700"/>
                  <a:pt x="14858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8011596" y="4457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5" name="Text 22"/>
          <p:cNvSpPr/>
          <p:nvPr/>
        </p:nvSpPr>
        <p:spPr>
          <a:xfrm>
            <a:off x="8406884" y="436245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Vector Store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406884" y="4552950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FAISS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604534" y="4476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Shape 25"/>
          <p:cNvSpPr/>
          <p:nvPr/>
        </p:nvSpPr>
        <p:spPr>
          <a:xfrm>
            <a:off x="10060901" y="4248150"/>
            <a:ext cx="1514475" cy="647700"/>
          </a:xfrm>
          <a:custGeom>
            <a:avLst/>
            <a:gdLst/>
            <a:ahLst/>
            <a:cxnLst/>
            <a:rect l="l" t="t" r="r" b="b"/>
            <a:pathLst>
              <a:path w="1514475" h="647700">
                <a:moveTo>
                  <a:pt x="76202" y="0"/>
                </a:moveTo>
                <a:lnTo>
                  <a:pt x="1438273" y="0"/>
                </a:lnTo>
                <a:cubicBezTo>
                  <a:pt x="1480358" y="0"/>
                  <a:pt x="1514475" y="34117"/>
                  <a:pt x="1514475" y="76202"/>
                </a:cubicBezTo>
                <a:lnTo>
                  <a:pt x="1514475" y="571498"/>
                </a:lnTo>
                <a:cubicBezTo>
                  <a:pt x="1514475" y="613583"/>
                  <a:pt x="1480358" y="647700"/>
                  <a:pt x="14382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0279976" y="445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10689551" y="43624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689551" y="4552950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Llama 3.2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81000" y="5436868"/>
            <a:ext cx="1762125" cy="457200"/>
          </a:xfrm>
          <a:custGeom>
            <a:avLst/>
            <a:gdLst/>
            <a:ahLst/>
            <a:cxnLst/>
            <a:rect l="l" t="t" r="r" b="b"/>
            <a:pathLst>
              <a:path w="1762125" h="457200">
                <a:moveTo>
                  <a:pt x="76202" y="0"/>
                </a:moveTo>
                <a:lnTo>
                  <a:pt x="1685923" y="0"/>
                </a:lnTo>
                <a:cubicBezTo>
                  <a:pt x="1728008" y="0"/>
                  <a:pt x="1762125" y="34117"/>
                  <a:pt x="1762125" y="76202"/>
                </a:cubicBezTo>
                <a:lnTo>
                  <a:pt x="1762125" y="380998"/>
                </a:lnTo>
                <a:cubicBezTo>
                  <a:pt x="1762125" y="423083"/>
                  <a:pt x="1728008" y="457200"/>
                  <a:pt x="16859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590550" y="55892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4" name="Text 31"/>
          <p:cNvSpPr/>
          <p:nvPr/>
        </p:nvSpPr>
        <p:spPr>
          <a:xfrm>
            <a:off x="876300" y="5551168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 Execution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2447568" y="5436868"/>
            <a:ext cx="1524000" cy="457200"/>
          </a:xfrm>
          <a:custGeom>
            <a:avLst/>
            <a:gdLst/>
            <a:ahLst/>
            <a:cxnLst/>
            <a:rect l="l" t="t" r="r" b="b"/>
            <a:pathLst>
              <a:path w="1524000" h="457200">
                <a:moveTo>
                  <a:pt x="76202" y="0"/>
                </a:moveTo>
                <a:lnTo>
                  <a:pt x="1447798" y="0"/>
                </a:lnTo>
                <a:cubicBezTo>
                  <a:pt x="1489883" y="0"/>
                  <a:pt x="1524000" y="34117"/>
                  <a:pt x="1524000" y="76202"/>
                </a:cubicBezTo>
                <a:lnTo>
                  <a:pt x="1524000" y="380998"/>
                </a:lnTo>
                <a:cubicBezTo>
                  <a:pt x="1524000" y="423083"/>
                  <a:pt x="1489883" y="457200"/>
                  <a:pt x="1447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2676168" y="558926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7" name="Text 34"/>
          <p:cNvSpPr/>
          <p:nvPr/>
        </p:nvSpPr>
        <p:spPr>
          <a:xfrm>
            <a:off x="2942868" y="5551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Privacy First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276368" y="5436868"/>
            <a:ext cx="1752600" cy="457200"/>
          </a:xfrm>
          <a:custGeom>
            <a:avLst/>
            <a:gdLst/>
            <a:ahLst/>
            <a:cxnLst/>
            <a:rect l="l" t="t" r="r" b="b"/>
            <a:pathLst>
              <a:path w="1752600" h="457200">
                <a:moveTo>
                  <a:pt x="76202" y="0"/>
                </a:moveTo>
                <a:lnTo>
                  <a:pt x="1676398" y="0"/>
                </a:lnTo>
                <a:cubicBezTo>
                  <a:pt x="1718483" y="0"/>
                  <a:pt x="1752600" y="34117"/>
                  <a:pt x="1752600" y="76202"/>
                </a:cubicBezTo>
                <a:lnTo>
                  <a:pt x="1752600" y="380998"/>
                </a:lnTo>
                <a:cubicBezTo>
                  <a:pt x="1752600" y="423083"/>
                  <a:pt x="1718483" y="457200"/>
                  <a:pt x="16763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485918" y="55892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4534" y="-387"/>
                </a:moveTo>
                <a:cubicBezTo>
                  <a:pt x="79385" y="-3364"/>
                  <a:pt x="73015" y="-3364"/>
                  <a:pt x="67866" y="-387"/>
                </a:cubicBezTo>
                <a:lnTo>
                  <a:pt x="42803" y="14079"/>
                </a:lnTo>
                <a:cubicBezTo>
                  <a:pt x="37654" y="17056"/>
                  <a:pt x="34469" y="22562"/>
                  <a:pt x="34469" y="28515"/>
                </a:cubicBezTo>
                <a:lnTo>
                  <a:pt x="34469" y="58847"/>
                </a:lnTo>
                <a:lnTo>
                  <a:pt x="8186" y="74027"/>
                </a:lnTo>
                <a:cubicBezTo>
                  <a:pt x="3036" y="77004"/>
                  <a:pt x="-149" y="82510"/>
                  <a:pt x="-149" y="88463"/>
                </a:cubicBezTo>
                <a:lnTo>
                  <a:pt x="-149" y="117425"/>
                </a:lnTo>
                <a:cubicBezTo>
                  <a:pt x="-149" y="123379"/>
                  <a:pt x="3036" y="128885"/>
                  <a:pt x="8186" y="131862"/>
                </a:cubicBezTo>
                <a:lnTo>
                  <a:pt x="33278" y="146328"/>
                </a:lnTo>
                <a:cubicBezTo>
                  <a:pt x="38427" y="149304"/>
                  <a:pt x="44797" y="149304"/>
                  <a:pt x="49947" y="146328"/>
                </a:cubicBezTo>
                <a:lnTo>
                  <a:pt x="76230" y="131147"/>
                </a:lnTo>
                <a:lnTo>
                  <a:pt x="102513" y="146328"/>
                </a:lnTo>
                <a:cubicBezTo>
                  <a:pt x="107662" y="149304"/>
                  <a:pt x="114032" y="149304"/>
                  <a:pt x="119182" y="146328"/>
                </a:cubicBezTo>
                <a:lnTo>
                  <a:pt x="144214" y="131862"/>
                </a:lnTo>
                <a:cubicBezTo>
                  <a:pt x="149364" y="128885"/>
                  <a:pt x="152549" y="123379"/>
                  <a:pt x="152549" y="117425"/>
                </a:cubicBezTo>
                <a:lnTo>
                  <a:pt x="152549" y="88463"/>
                </a:lnTo>
                <a:cubicBezTo>
                  <a:pt x="152549" y="82510"/>
                  <a:pt x="149364" y="77004"/>
                  <a:pt x="144214" y="74027"/>
                </a:cubicBezTo>
                <a:lnTo>
                  <a:pt x="117931" y="58847"/>
                </a:lnTo>
                <a:lnTo>
                  <a:pt x="117931" y="28515"/>
                </a:lnTo>
                <a:cubicBezTo>
                  <a:pt x="117931" y="22562"/>
                  <a:pt x="114746" y="17056"/>
                  <a:pt x="109597" y="14079"/>
                </a:cubicBezTo>
                <a:lnTo>
                  <a:pt x="84534" y="-387"/>
                </a:lnTo>
                <a:close/>
                <a:moveTo>
                  <a:pt x="69056" y="87094"/>
                </a:moveTo>
                <a:lnTo>
                  <a:pt x="69056" y="118795"/>
                </a:lnTo>
                <a:lnTo>
                  <a:pt x="42773" y="133975"/>
                </a:lnTo>
                <a:cubicBezTo>
                  <a:pt x="42416" y="134183"/>
                  <a:pt x="41999" y="134303"/>
                  <a:pt x="41583" y="134303"/>
                </a:cubicBezTo>
                <a:lnTo>
                  <a:pt x="41583" y="102959"/>
                </a:lnTo>
                <a:lnTo>
                  <a:pt x="69056" y="87094"/>
                </a:lnTo>
                <a:close/>
                <a:moveTo>
                  <a:pt x="137934" y="87273"/>
                </a:moveTo>
                <a:cubicBezTo>
                  <a:pt x="138142" y="87630"/>
                  <a:pt x="138261" y="88047"/>
                  <a:pt x="138261" y="88463"/>
                </a:cubicBezTo>
                <a:lnTo>
                  <a:pt x="138261" y="117425"/>
                </a:lnTo>
                <a:cubicBezTo>
                  <a:pt x="138261" y="118289"/>
                  <a:pt x="137815" y="119063"/>
                  <a:pt x="137071" y="119479"/>
                </a:cubicBezTo>
                <a:lnTo>
                  <a:pt x="111978" y="133945"/>
                </a:lnTo>
                <a:cubicBezTo>
                  <a:pt x="111621" y="134154"/>
                  <a:pt x="111204" y="134273"/>
                  <a:pt x="110788" y="134273"/>
                </a:cubicBezTo>
                <a:lnTo>
                  <a:pt x="110788" y="102930"/>
                </a:lnTo>
                <a:lnTo>
                  <a:pt x="137934" y="87273"/>
                </a:lnTo>
                <a:close/>
                <a:moveTo>
                  <a:pt x="103674" y="28515"/>
                </a:moveTo>
                <a:lnTo>
                  <a:pt x="103674" y="58847"/>
                </a:lnTo>
                <a:lnTo>
                  <a:pt x="76200" y="74712"/>
                </a:lnTo>
                <a:lnTo>
                  <a:pt x="76200" y="43011"/>
                </a:lnTo>
                <a:lnTo>
                  <a:pt x="103346" y="27355"/>
                </a:lnTo>
                <a:cubicBezTo>
                  <a:pt x="103555" y="27712"/>
                  <a:pt x="103674" y="28129"/>
                  <a:pt x="103674" y="2854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0" name="Text 37"/>
          <p:cNvSpPr/>
          <p:nvPr/>
        </p:nvSpPr>
        <p:spPr>
          <a:xfrm>
            <a:off x="4771668" y="555116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Modular Design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334363" y="5436868"/>
            <a:ext cx="1352550" cy="457200"/>
          </a:xfrm>
          <a:custGeom>
            <a:avLst/>
            <a:gdLst/>
            <a:ahLst/>
            <a:cxnLst/>
            <a:rect l="l" t="t" r="r" b="b"/>
            <a:pathLst>
              <a:path w="1352550" h="457200">
                <a:moveTo>
                  <a:pt x="76202" y="0"/>
                </a:moveTo>
                <a:lnTo>
                  <a:pt x="1276348" y="0"/>
                </a:lnTo>
                <a:cubicBezTo>
                  <a:pt x="1318433" y="0"/>
                  <a:pt x="1352550" y="34117"/>
                  <a:pt x="1352550" y="76202"/>
                </a:cubicBezTo>
                <a:lnTo>
                  <a:pt x="1352550" y="380998"/>
                </a:lnTo>
                <a:cubicBezTo>
                  <a:pt x="1352550" y="423083"/>
                  <a:pt x="1318433" y="457200"/>
                  <a:pt x="12763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572488" y="5589268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Text 40"/>
          <p:cNvSpPr/>
          <p:nvPr/>
        </p:nvSpPr>
        <p:spPr>
          <a:xfrm>
            <a:off x="6829663" y="5551168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Zero Cost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 RAG Architecture</dc:title>
  <dc:subject>Minimal RAG Architecture</dc:subject>
  <dc:creator>Kimi</dc:creator>
  <cp:lastModifiedBy>Kimi</cp:lastModifiedBy>
  <cp:revision>1</cp:revision>
  <dcterms:created xsi:type="dcterms:W3CDTF">2026-01-28T20:36:08Z</dcterms:created>
  <dcterms:modified xsi:type="dcterms:W3CDTF">2026-01-28T20:36:08Z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{"Label":"Minimal RAG Architecture","ContentProducer":"001191110108MACG2KBH8F10000","ProduceID":"19c06492-e4d2-8815-8000-0000441fb870","ReservedCode1":"","ContentPropagator":"001191110108MACG2KBH8F20000","PropagateID":"19c06492-e4d2-8815-8000-0000441fb870","ReservedCode2":""}</vt:lpwstr>
  </property>
</Properties>
</file>